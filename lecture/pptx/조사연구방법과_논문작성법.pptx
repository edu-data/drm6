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시작 시 수강생에게 "지금 머릿속에 있는 논문 주제"를 메모지에 한 줄 적게 하고, 실습 1·3에서 그 메모를 계속 고쳐 쓰게 한다. 강의 끝에 손에 남는 산출물이 있어야 특강의 체감 효용이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청중의 강점을 먼저 인정할 것. 이들은 현장 문제의식, 데이터 접근성, 조직 이해도에서 일반 대학원생보다 압도적으로 유리하다. 부족한 것은 방법론적 절차뿐이며, 그것은 배우면 되는 것이라는 프레임으로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세 가지는 각각 실습 1·2·3의 결과물이다. 마지막 슬라이드에서 다시 회수한다.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검증(so what)이 군 논문에서 특히 중요하다. 정책적 함의가 없는 연구는 국방 분야 심사에서 반드시 지적받는다.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 각자가 자기 주제를 F·I·N·E·R 5점 척도로 채점하게 하고, 가장 낮은 항목을 옆사람과 공유하게 한다. 3분이면 충분하고 몰입도가 크게 오른다.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실습 결과는 반드시 종이에 남기게 한다. Part 07 실습 3에서 이 문장을 목차로 전개시킨다.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문헌고찰 파트의 핵심이다. 시간이 부족하면 앞의 검색 전략을 줄이더라도 이 before/after는 반드시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 대다수는 횡단 서베이를 하게 된다. 그것이 나쁜 선택이 아니라 ‘제약 하의 합리적 선택’임을 분명히 하되, 그 한계를 논문에 정직하게 쓰는 것이 조건임을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청중이 가장 몰입하는 부분이다. 실제로 겪은 사례를 물어보고 한두 개 공유받은 뒤 넘어가면 좋다. 시간 여유가 없으면 IRB와 위계성 두 가지만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"±3.5%p 오차범위"라는 표현이 ②만 반영한다는 점을 짚어주면 청중이 크게 반응한다. 실제 논문 오류의 대부분은 ①③에서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구성타당도와 동일방법편의는 심사 단골 질문이다. 여기서 "어떻게 답할 것인가"까지 알려주면 특강의 실용적 가치가 크게 올라간다.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Kahneman et al.(2004) Science 논문이 DRM의 원전. 여기서 "설계로 편향을 막는다"는 아이디어가 청중에게 가장 오래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군 적용 시 완전히 같은 구조가 나온다 — 승조원(3수준) / 근무일(2수준) / 당직·작업 세션(1수준). 다음 슬라이드에서 이 전이를 명시적으로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해설은 3분간 조별 토의 후 공개. Q4와 Q5가 가장 논쟁이 많고, 특히 Q5는 군 조사에서 실제로 자주 쓰이는 형식이라 반응이 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"효과크기 없이 p값만 보고한 논문은 심사에서 지적된다"는 점을 강조. 최근 국내 학술지도 대부분 효과크기 보고를 요구한다.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집필 순서는 실무적으로 가장 도움이 되는 조언 중 하나다. 서론부터 쓰다가 몇 달을 허비하는 사례가 매우 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실천적 함의의 구체성이 군 논문 평가에서 차지하는 비중이 크다. "제도 개선이 필요하다" 수준의 문장은 함의가 아니라는 점을 분명히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희망자 1~2명의 목차를 앞에서 함께 검토하면 효과가 크다. 대개 Ⅱ장 절 구성과 변수의 불일치가 즉시 드러난다.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"인정하고 범위를 좁힌다"가 심사 대응의 핵심 기술이다. 한계를 인정하는 것이 감점이 아니라 오히려 신뢰를 얻는다는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인쇄 배포용으로 별도 제공하면 활용도가 높다. 인쇄 시 전체 슬라이드가 페이지 단위로 출력된다.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마지막은 질의응답으로 15분 이상 남겨둔다. 개별 주제 상담 요청이 반드시 나오므로 연락 방법을 안내하고 마친다.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23122" y="2369210"/>
            <a:ext cx="1881835" cy="1881835"/>
          </a:xfrm>
          <a:prstGeom prst="ellipse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40650" y="1786738"/>
            <a:ext cx="3046781" cy="3046781"/>
          </a:xfrm>
          <a:prstGeom prst="ellipse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23760" y="1069848"/>
            <a:ext cx="4480560" cy="4480560"/>
          </a:xfrm>
          <a:prstGeom prst="ellipse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9464040" y="1069848"/>
            <a:ext cx="0" cy="71689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3062" y="1089014"/>
            <a:ext cx="23393" cy="177689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997481" y="1146184"/>
            <a:ext cx="46386" cy="17311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52773" y="1240379"/>
            <a:ext cx="68585" cy="16558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494569" y="1369989"/>
            <a:ext cx="89611" cy="1552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718732" y="1532794"/>
            <a:ext cx="109104" cy="14218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541240" y="1726011"/>
            <a:ext cx="506917" cy="50691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099187" y="1946332"/>
            <a:ext cx="142187" cy="109104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248968" y="2189988"/>
            <a:ext cx="155211" cy="896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368209" y="2452810"/>
            <a:ext cx="165580" cy="6858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454869" y="2730301"/>
            <a:ext cx="173115" cy="46386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507465" y="3017713"/>
            <a:ext cx="177689" cy="23393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87430" y="3310128"/>
            <a:ext cx="716890" cy="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07465" y="3579150"/>
            <a:ext cx="177689" cy="23393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54869" y="3843569"/>
            <a:ext cx="173115" cy="46386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68209" y="4098861"/>
            <a:ext cx="165580" cy="6858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248968" y="4340657"/>
            <a:ext cx="155211" cy="896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99187" y="4564820"/>
            <a:ext cx="142187" cy="109104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541240" y="4387328"/>
            <a:ext cx="506917" cy="50691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18732" y="4945275"/>
            <a:ext cx="109104" cy="14218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494569" y="5095056"/>
            <a:ext cx="89611" cy="1552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52773" y="5214297"/>
            <a:ext cx="68585" cy="16558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97481" y="5300957"/>
            <a:ext cx="46386" cy="17311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33062" y="5353553"/>
            <a:ext cx="23393" cy="177689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64040" y="4833518"/>
            <a:ext cx="0" cy="71689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171625" y="5353553"/>
            <a:ext cx="23393" cy="177689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884213" y="5300957"/>
            <a:ext cx="46386" cy="17311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606722" y="5214297"/>
            <a:ext cx="68585" cy="16558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343900" y="5095056"/>
            <a:ext cx="89611" cy="1552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100244" y="4945275"/>
            <a:ext cx="109104" cy="14218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879923" y="4387328"/>
            <a:ext cx="506917" cy="50691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686706" y="4564820"/>
            <a:ext cx="142187" cy="109104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523901" y="4340657"/>
            <a:ext cx="155211" cy="896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394291" y="4098861"/>
            <a:ext cx="165580" cy="6858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300096" y="3843569"/>
            <a:ext cx="173115" cy="46386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242926" y="3579150"/>
            <a:ext cx="177689" cy="23393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223760" y="3310128"/>
            <a:ext cx="716890" cy="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7242926" y="3017713"/>
            <a:ext cx="177689" cy="23393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7300096" y="2730301"/>
            <a:ext cx="173115" cy="46386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7394291" y="2452810"/>
            <a:ext cx="165580" cy="6858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7523901" y="2189988"/>
            <a:ext cx="155211" cy="896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7686706" y="1946332"/>
            <a:ext cx="142187" cy="109104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7879923" y="1726011"/>
            <a:ext cx="506917" cy="50691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100244" y="1532794"/>
            <a:ext cx="109104" cy="142187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8343900" y="1369989"/>
            <a:ext cx="89611" cy="155211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8606722" y="1240379"/>
            <a:ext cx="68585" cy="165580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8884213" y="1146184"/>
            <a:ext cx="46386" cy="173115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9171625" y="1089014"/>
            <a:ext cx="23393" cy="177689"/>
          </a:xfrm>
          <a:prstGeom prst="line">
            <a:avLst/>
          </a:prstGeom>
          <a:ln w="6350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464040" y="711403"/>
            <a:ext cx="0" cy="2598725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464040" y="1472552"/>
            <a:ext cx="1837576" cy="1837576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464040" y="3310128"/>
            <a:ext cx="2598725" cy="0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64040" y="3310128"/>
            <a:ext cx="1837576" cy="1837576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64040" y="3310128"/>
            <a:ext cx="0" cy="2598725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7626464" y="3310128"/>
            <a:ext cx="1837576" cy="1837576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865315" y="3310128"/>
            <a:ext cx="2598725" cy="0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7626464" y="1472552"/>
            <a:ext cx="1837576" cy="1837576"/>
          </a:xfrm>
          <a:prstGeom prst="line">
            <a:avLst/>
          </a:prstGeom>
          <a:ln w="9525">
            <a:solidFill>
              <a:srgbClr val="DAA7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iamond 62"/>
          <p:cNvSpPr/>
          <p:nvPr/>
        </p:nvSpPr>
        <p:spPr>
          <a:xfrm>
            <a:off x="9318422" y="2369210"/>
            <a:ext cx="291236" cy="1299362"/>
          </a:xfrm>
          <a:prstGeom prst="diamond">
            <a:avLst/>
          </a:prstGeom>
          <a:solidFill>
            <a:srgbClr val="B51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" y="1572768"/>
            <a:ext cx="82296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Republic of Korea Navy · Field Grade Officer Seminar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" y="1847088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조사연구방법과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논문작성법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3529584"/>
            <a:ext cx="78638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문제 설정에서 심사 통과까지 — 해군 소령을 위한 연구 항해술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" y="4224528"/>
            <a:ext cx="237744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Audience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" y="4425696"/>
            <a:ext cx="2377440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해군 소령 (O-4)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4857" y="4224528"/>
            <a:ext cx="237744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Duration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4857" y="4425696"/>
            <a:ext cx="2377440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3–4시간 특강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97326" y="4224528"/>
            <a:ext cx="237744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Legs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7326" y="4425696"/>
            <a:ext cx="2377440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8개 구간 · 실습 3회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72202" y="4224528"/>
            <a:ext cx="237744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Case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72202" y="4425696"/>
            <a:ext cx="2377440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DRM6 일상재구성법 조사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오리엔테이션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Diamond 86"/>
          <p:cNvSpPr/>
          <p:nvPr/>
        </p:nvSpPr>
        <p:spPr>
          <a:xfrm>
            <a:off x="2297887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 / 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Orientation · 항로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오늘의 항로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연구는 순서가 있는 항해입니다. 뒤 단계에서 겪는 대부분의 고통은 앞 단계를 건너뛴 대가입니다. 오늘은 그 순서를 따라 한 바퀴 돕니다.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686814"/>
          <a:ext cx="10692079" cy="3132482"/>
        </p:xfrm>
        <a:graphic>
          <a:graphicData uri="http://schemas.openxmlformats.org/drawingml/2006/table">
            <a:tbl>
              <a:tblPr firstRow="0" bandRow="0"/>
              <a:tblGrid>
                <a:gridCol w="1422557"/>
                <a:gridCol w="2693252"/>
                <a:gridCol w="5153713"/>
                <a:gridCol w="1422557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구간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핵심 질문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배정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01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연구문제의 설정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나는 정확히 무엇을 묻고 있는가?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30분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02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문헌고찰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이미 답이 나온 질문은 아닌가?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25분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03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연구설계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 답을 어떻게 반박당하지 않게 얻는가?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35분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04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표본과 표집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누구에게 물어야 그 답이 일반화되는가?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25분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05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측정과 설문개발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내 질문지는 정말 그것을 재고 있는가?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40분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06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자료분석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숫자에서 어디까지 말할 수 있는가?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35분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07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논문작성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읽는 사람이 설득되게 쓰는 법은?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45분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08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실행과 심사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기한 안에 통과시키는 법은?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25분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32688" y="4998060"/>
            <a:ext cx="1889506" cy="247117"/>
          </a:xfrm>
          <a:prstGeom prst="rect">
            <a:avLst/>
          </a:prstGeom>
          <a:noFill/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실습 1 · 연구문제 한 문장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5346" y="4998060"/>
            <a:ext cx="1442593" cy="247117"/>
          </a:xfrm>
          <a:prstGeom prst="rect">
            <a:avLst/>
          </a:prstGeom>
          <a:noFill/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실습 2 · 문항 교정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1091" y="4998060"/>
            <a:ext cx="1442593" cy="247117"/>
          </a:xfrm>
          <a:prstGeom prst="rect">
            <a:avLst/>
          </a:prstGeom>
          <a:noFill/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실습 3 · 목차 초안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오리엔테이션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6382512"/>
            <a:ext cx="131452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2429340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Orientation · 출발점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17220"/>
            <a:ext cx="10050554" cy="909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여러분은 이미 자료를 다룬다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다만 목적이 다를 뿐이다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군 실무 보고서와 학술 논문은 둘 다 근거로 주장을 세웁니다. 결정적 차이는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누구를 설득하는가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, 그리고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무엇을 남기는가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2105152"/>
          <a:ext cx="10692079" cy="2785467"/>
        </p:xfrm>
        <a:graphic>
          <a:graphicData uri="http://schemas.openxmlformats.org/drawingml/2006/table">
            <a:tbl>
              <a:tblPr firstRow="0" bandRow="0"/>
              <a:tblGrid>
                <a:gridCol w="1771673"/>
                <a:gridCol w="3968774"/>
                <a:gridCol w="4951632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차원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실무 보고서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학술 논문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독자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지휘관 — 결심이 필요한 사람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동료 연구자 — 반박할 준비가 된 사람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목적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의사결정 지원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검증 가능한 지식의 축적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결론 위치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두괄식 — 결론이 첫 장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논증의 끝 — 근거를 밟은 뒤 결론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근거 기준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현황·경험·현장 판단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체계적 자료 + 재현 가능한 절차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선행 검토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유사 사례 참고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의무 — 무엇이 이미 밝혀졌는지 규명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불확실성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가급적 단정 — "판단됨"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명시 의무 — 신뢰구간·한계·대안설명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수명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해당 결심까지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인용되는 한 계속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32688" y="5069383"/>
            <a:ext cx="10692079" cy="80450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169967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가장 흔한 실패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356181"/>
            <a:ext cx="10417759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군 경력이 길수록 논문 초고가 ‘장문의 정책보고서’가 됩니다. 문제의식은 훌륭한데 검증 절차가 없고, 결론이 자료보다 앞서 나갑니다. 오늘 강의는 그 간극을 메우는 것이 목표입니다.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오리엔테이션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6382512"/>
            <a:ext cx="262905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2560792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Orientation ·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오늘 손에 쥐고 나갈 세 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172718"/>
            <a:ext cx="3442106" cy="111549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79519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연구문제 한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3167786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"○○ 집단에서 A가 B에 미치는 영향은 C에 따라 어떻게 달라지는가?" 형식으로, 변수와 대상이 특정된 단일 문장.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7674" y="1172718"/>
            <a:ext cx="3442106" cy="111549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04506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4834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연구설계 한 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4834" y="1561948"/>
            <a:ext cx="3167786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설계 유형 · 표집 방법 · 표본 크기 근거 · 측정도구 출처 · 분석 기법까지 한 페이지로 압축한 설계 요약표.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2661" y="1172718"/>
            <a:ext cx="3442106" cy="90693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29492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9821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논문 목차 초안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9821" y="1561948"/>
            <a:ext cx="3167786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장·절 수준까지 내려간 목차. 목차가 서지 않으면 논증이 서지 않은 것입니다.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오리엔테이션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31720" y="6382512"/>
            <a:ext cx="394357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2692244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연구문제의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Framing 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논문의 품질 상한선은 연구문제 단계에서 이미 결정됩니다. 분석 기법이 아무리 정교해도, 질문이 모호하면 결과도 모호합니다.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132384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주제 → 문제 → 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9688" y="4828032"/>
            <a:ext cx="80568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FINER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8528" y="4828032"/>
            <a:ext cx="123748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개념적·조작적 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9168" y="4828032"/>
            <a:ext cx="102158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변수와 연구모형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01 · 연구문제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525809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2823697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01 · 좁히기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909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"주제"를 들고 오는 사람은 많고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"문제"를 들고 오는 사람은 드물다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주제(topic)는 영역이고, 연구문제(research question)는 답이 있는 질문입니다. 지도교수가 "그래서 뭘 밝히겠다는 건가?"라고 묻는 지점이 바로 이 간극입니다.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05152"/>
            <a:ext cx="10692079" cy="3080614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fig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097" y="2205736"/>
            <a:ext cx="3839261" cy="28794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32688" y="5341214"/>
            <a:ext cx="3442106" cy="725805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5441798"/>
            <a:ext cx="316778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검증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603723"/>
            <a:ext cx="316778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질문에 "예/아니오" 또는 "얼마나"로 답할 수 있는가?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7674" y="5341214"/>
            <a:ext cx="3442106" cy="725805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4834" y="5441798"/>
            <a:ext cx="316778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검증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4834" y="5603723"/>
            <a:ext cx="316778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답이 틀렸다는 것을 보여줄 자료를 상상할 수 있는가?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2661" y="5341214"/>
            <a:ext cx="3442106" cy="54444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441798"/>
            <a:ext cx="316778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검증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5603723"/>
            <a:ext cx="3167786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답을 알면 누군가의 판단이 달라지는가?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01 · 연구문제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82512"/>
            <a:ext cx="657262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2955149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6 /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01 ·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좋은 연구문제의 다섯 가지 조건 — FINER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주제를 하나 떠올릴 때마다 이 다섯 항목에 스스로 점수를 매기십시오. 하나라도 명백히 낙제면 그 주제는 버리는 것이 시간을 버는 길입니다.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686814"/>
          <a:ext cx="10692080" cy="2932682"/>
        </p:xfrm>
        <a:graphic>
          <a:graphicData uri="http://schemas.openxmlformats.org/drawingml/2006/table">
            <a:tbl>
              <a:tblPr firstRow="0" bandRow="0"/>
              <a:tblGrid>
                <a:gridCol w="2346862"/>
                <a:gridCol w="4109487"/>
                <a:gridCol w="4235731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묻는 것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군 연구에서의 현실적 점검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F — Feasible 실행가능성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기한·표본·예산·권한 안에서 실제로 끝낼 수 있는가?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부대 협조 공문이 나오는가? 표본 접근에 몇 개월이 필요한가? 보안 등급이 걸리지 않는가?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I — Interesting 흥미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나와 학계·조직이 답을 궁금해하는가?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2년을 버티게 하는 것은 결국 본인의 문제의식이다. 남의 주제는 완주율이 낮다.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N — Novel 새로움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이미 확립된 사실의 반복은 아닌가?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대상·맥락·변수 조합 중 하나만 새로워도 충분하다. 이론 자체를 새로 만들 필요는 없다.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E — Ethical 윤리성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참여자에게 해가 없고 자발적 동의가 가능한가?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계급 구조상 ‘거부할 자유’가 실질적으로 보장되는가가 핵심 쟁점이다. IRB 필수.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R — Relevant 중요성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결과가 실무·정책·이론 중 무엇을 바꾸는가?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"이 결과로 어떤 지침·제도·교육을 바꿀 수 있는가"에 한 문장으로 답할 수 있어야 한다.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32688" y="4798263"/>
            <a:ext cx="10692079" cy="80450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898847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Feasible이 1순위다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085061"/>
            <a:ext cx="10417759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석사 논문에서 좌초의 8할은 흥미 부족이 아니라 실행 불가입니다. "이 자료를 언제, 누구의 결재로, 몇 명에게서 받을 수 있는가"에 답하지 못하는 주제는 아무리 훌륭해도 지금은 아닙니다.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01 · 연구문제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82512"/>
            <a:ext cx="788714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3086601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01 · 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고장난 연구문제, 여섯 유형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172718"/>
          <a:ext cx="10692078" cy="2438452"/>
        </p:xfrm>
        <a:graphic>
          <a:graphicData uri="http://schemas.openxmlformats.org/drawingml/2006/table">
            <a:tbl>
              <a:tblPr firstRow="0" bandRow="0"/>
              <a:tblGrid>
                <a:gridCol w="1635986"/>
                <a:gridCol w="3900672"/>
                <a:gridCol w="5155420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고장난 질문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교정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너무 넓음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해군 조직문화를 어떻게 개선할 것인가?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수평적 소통문화 인식이 초급간부 잔류의도에 미치는 영향은?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답이 자명함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교육훈련은 직무능력에 도움이 되는가?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시뮬레이터 훈련시간과 실기동 훈련시간 중 어느 쪽이 대응숙달도를 더 높이는가?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가치판단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복지제도를 확대해야 하는가?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관사 만족도가 장기복무 지원의사에 미치는 효과는 계급에 따라 다른가?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측정 불가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군인정신이 전투력에 미치는 영향은?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군 복무 몰입(3개 하위요인)이 임무수행 자기효능감에 미치는 영향은?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변수가 없음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함정 근무 실태를 조사한다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근무환경 요인(당직주기·거주여건·통신접근성)별 소진 수준의 차이는?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 개 질문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스트레스 원인과 대처방안은 무엇인가?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 연구문제를 하나로 두고, 대처방안은 ‘논의’의 함의로 다룬다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32688" y="3789934"/>
            <a:ext cx="10692079" cy="80450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890518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연구문제 문장 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076732"/>
            <a:ext cx="10417759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[대상 집단]에서 [독립변수]가 [종속변수]에 미치는 영향은 [조절/매개변수]에 따라 어떻게 달라지는가?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이 한 문장에 빈칸이 남아 있다면, 아직 연구를 시작할 수 없습니다.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01 · 연구문제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6382512"/>
            <a:ext cx="920167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3218054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01 ·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개념을 자료로 바꾸는 사다리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"사기가 높다"는 말은 자료가 아닙니다. 개념을 측정 가능한 숫자까지 내려보내는 네 단계가 필요하고, 심사에서 가장 자주 무너지는 지점이 바로 여기입니다.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6037200" cy="3723894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fi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804" y="1787398"/>
            <a:ext cx="4696968" cy="3522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52768" y="1686814"/>
            <a:ext cx="4472000" cy="1638738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9928" y="1787398"/>
            <a:ext cx="41976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개념적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9928" y="1973612"/>
            <a:ext cx="4197680" cy="129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그 개념이 무엇인지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말로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규정한 것. 반드시 선행연구의 정의를 인용하고, 여러 정의 중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본 연구가 채택한 것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명시합니다.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예) 직무소진: 만성적 직무 스트레스에 대한 반응으로 나타나는 정서적 고갈·냉소·효능감 저하의 증후군(Maslach &amp; Jackson, 1981)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2768" y="3504317"/>
            <a:ext cx="4472000" cy="143017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9928" y="3604901"/>
            <a:ext cx="41976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조작적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928" y="3791115"/>
            <a:ext cx="4197680" cy="1088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그 개념을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어떻게 재는지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규정한 것. 도구·문항수·척도·점수 산출 방식까지 씁니다.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예) 본 연구에서 직무소진은 MBI-GS 한국어판 15문항의 7점 리커트 평균 점수로, 점수가 높을수록 소진이 심한 것으로 조작적으로 정의한다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2768" y="5113261"/>
            <a:ext cx="4472000" cy="10130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9928" y="5213845"/>
            <a:ext cx="41976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심사에서 나오는 질문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9928" y="5400059"/>
            <a:ext cx="41976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"선생님이 잰 그 점수가 정말 ‘소진’입니까, 아니면 그냥 ‘피곤함’입니까?" — 이 질문에 대한 답이 곧 구성타당도이며, Part 05에서 다룹니다.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01 · 연구문제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82512"/>
            <a:ext cx="1051619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3349506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01 · 모형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변수의 역할을 그림 한 장으로 확정하라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연구모형 그림은 장식이 아니라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계약서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여기에 그린 화살표 하나하나가 가설이 되고, 결과 장의 표가 되고, 논의의 문단이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4203680" cy="54444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7398"/>
            <a:ext cx="392936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독립변수 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49323"/>
            <a:ext cx="392936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원인으로 상정한 변수 · 연간 항해일수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386711"/>
            <a:ext cx="4203680" cy="54444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487295"/>
            <a:ext cx="392936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종속변수 DV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49220"/>
            <a:ext cx="392936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결과로 상정한 변수 · 직무소진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86608"/>
            <a:ext cx="4203680" cy="54444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187192"/>
            <a:ext cx="392936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매개변수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349117"/>
            <a:ext cx="392936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IV가 DV에 이르는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경로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· 수면의 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3786505"/>
            <a:ext cx="4203680" cy="54444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887089"/>
            <a:ext cx="392936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조절변수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049014"/>
            <a:ext cx="392936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IV→DV 관계의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강도를 바꾸는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조건 · 부대 응집력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4486402"/>
            <a:ext cx="4203680" cy="725805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586986"/>
            <a:ext cx="392936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통제변수 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748911"/>
            <a:ext cx="3929360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다른 설명을 배제하기 위해 통계적으로 고정 · 계급·연령·직별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19248" y="1686814"/>
            <a:ext cx="6305520" cy="3264408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fi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847" y="1787398"/>
            <a:ext cx="4084320" cy="3063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19248" y="4978654"/>
            <a:ext cx="63055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화살표 = 가설. 점선 = 조절(상호작용항). a×b = 간접효과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19248" y="5268595"/>
            <a:ext cx="6305520" cy="725805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6408" y="5369179"/>
            <a:ext cx="6031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가설 진술 규칙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6408" y="5531104"/>
            <a:ext cx="6031200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화살표마다 번호를 붙이고(H1, H2a…), 각 가설은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방향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까지 진술합니다. "관계가 있을 것이다"보다 "정적(+) 영향을 미칠 것이다"가 항상 낫습니다.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01 · 연구문제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31720" y="6382512"/>
            <a:ext cx="1183071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3480959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01 ·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실습 1 — 연구문제 한 문장 </a:t>
            </a:r>
            <a:r>
              <a:rPr sz="2700" b="1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10분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1166901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1단계 · 빈칸 채우기 (4분)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4980280" cy="722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______________ 에서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______________ 가(이)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______________ 에 미치는 영향은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______________ 에 따라 어떻게 다른가?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518385"/>
            <a:ext cx="5254600" cy="69837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18969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2단계 · 자가 채점 (3분)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907614"/>
            <a:ext cx="4980280" cy="2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F·I·N·E·R 각 5점 만점으로 채점. 가장 낮은 항목 하나에 동그라미.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395523"/>
            <a:ext cx="5254600" cy="111549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496107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3단계 · 상호 검토 (3분)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784752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옆 사람에게 문장만 읽어주고 되묻게 합니다 — "그래서 무엇과 무엇의 관계를 보겠다는 겁니까?" 한 번에 되돌아오지 않으면 문장이 아직 모호한 것입니다.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8" y="1172718"/>
            <a:ext cx="5254600" cy="804501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8" y="1273302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작성 예시 · 해군 맥락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1459516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전투함 근무 부사관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에서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연간 해상근무일수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직무소진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미치는 영향은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부대 응집력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따라 어떻게 달라지는가?"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168" y="2155984"/>
            <a:ext cx="5254600" cy="804501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8" y="2256568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작성 예시 · 교육 맥락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8" y="2442782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해군 초급장교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에서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멘토링 경험의 질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장기복무 지원의사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미치는 영향을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조직몰입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매개하는가?"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8" y="3139250"/>
            <a:ext cx="5254600" cy="80450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8" y="3239834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자주 나오는 함정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8" y="3426047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빈칸에 "여러 가지 요인"이라고 쓰고 싶어지면, 아직 변수를 고르지 못한 것입니다. 요인 탐색은 문헌고찰의 몫이지 연구문제의 몫이 아닙니다.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01 · 연구문제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6382512"/>
            <a:ext cx="1314524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3612411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11 /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문헌고찰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Reviewing the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문헌고찰은 읽은 것을 나열하는 숙제가 아니라, 내 연구가 서 있을 자리를 만드는 작업입니다. 잘 쓴 문헌고찰은 그 자체로 "왜 이 연구가 필요한가"의 증명입니다.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검색 전략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3578" y="4828032"/>
            <a:ext cx="9136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문헌 매트릭스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0368" y="4828032"/>
            <a:ext cx="80568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종합형 서술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920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연구 공백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02 · 문헌고찰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1445976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3743863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02 ·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문헌고찰이 실제로 하는 세 가지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3442106" cy="132405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79519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중복 회피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561948"/>
            <a:ext cx="3167786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이미 답이 나온 질문을 2년에 걸쳐 다시 묻는 사고를 막습니다. 동일 주제 선행연구를 못 찾은 것이지, 없는 것이 아닌 경우가 대부분입니다.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7674" y="1172718"/>
            <a:ext cx="3442106" cy="132405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04506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4834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도구·설계 조달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4834" y="1561948"/>
            <a:ext cx="3167786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측정도구, 표본 크기, 분석 기법을 새로 발명할 필요가 없습니다. 검증된 척도를 가져다 쓰는 것이 타당도 확보의 가장 빠른 길입니다.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2661" y="1172718"/>
            <a:ext cx="3442106" cy="111549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29492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9821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공백의 논증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1561948"/>
            <a:ext cx="3167786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"선행연구는 A와 B는 밝혔으나 C는 다루지 않았다. 특히 군 조직 맥락에서는 검증된 바 없다." — 이 문장이 곧 연구의 정당화입니다.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2675534"/>
            <a:ext cx="10692079" cy="80450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2776118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순서에 관한 오해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2962332"/>
            <a:ext cx="10417759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"주제를 정하고 → 문헌을 읽는다"가 아니라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"대략 읽고 → 주제를 좁히고 → 다시 읽는다"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실제 순서입니다. 첫 검색 후 연구문제가 바뀌지 않았다면, 아직 충분히 읽지 않은 것입니다.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02 · 문헌고찰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31720" y="6382512"/>
            <a:ext cx="1577428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3875316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02 ·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체계적으로 찾는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"구글에 쳐봤는데 없더라"는 문헌고찰이 아닙니다. 검색은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기록 가능한 절차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여야 하고, 방법 장에 그 절차를 쓸 수 있어야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5254600" cy="147681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7398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1 · 검색어 행렬을 만든다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55317"/>
            <a:ext cx="4980280" cy="5093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(소진 OR 번아웃 OR burnout)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AND (군 OR 해군 OR military OR navy)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AND (근무환경 OR 교대 OR deployment)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682196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개념축 × 대상축 × 맥락축으로 나누고, 각 축의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동의어를 국문·영문 모두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확보합니다. 한국 군 연구는 국문 DB에만 있는 경우가 많습니다.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326848"/>
            <a:ext cx="5254600" cy="149801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427432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2 · 여러 DB를 교차한다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695351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695351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국내: RISS, KISS, DBpia, 국회전자도서관, 학위논문 원문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911378"/>
            <a:ext cx="146304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911378"/>
            <a:ext cx="4833976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국방 특화: 한국국방연구원(KIDA) 발간물, 국방대·해사 학술지, 「국방정책연구」·「군사」·「해양전략」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17829"/>
            <a:ext cx="146304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317829"/>
            <a:ext cx="4833976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국외: Google Scholar, Web of Science, PsycINFO, DTIC (미 국방기술정보센터)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4988084"/>
            <a:ext cx="5254600" cy="104035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88668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3 · 인용 추적으로 확장한다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356587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후방 추적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핵심 논문의 참고문헌을 따라 거슬러 올라가기.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전방 추적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그 논문을 인용한 최신 논문 찾기(Scholar의 "인용됨"). 좋은 논문 한 편만 찾으면 나머지는 자동으로 딸려옵니다.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168" y="1686814"/>
            <a:ext cx="5254600" cy="1661236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8" y="1787398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선별 기준을 미리 정해두기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8" y="2055317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632" y="2055317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포함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최근 10년, 동료심사 학술지 또는 학위논문, 실증자료 포함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2271344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3632" y="2271344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제외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의견 기고, 데이터 없는 개관, 중복 게재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8" y="2487371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3632" y="2487371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예외적 포함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이론의 원전은 연도 무관 (예: 1981년 Maslach 원논문)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8" y="2866619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기준을 미리 써두면 방법 장에 그대로 옮겨 쓸 수 있고, "왜 그 논문은 뺐습니까"라는 심사 질문에 즉답할 수 있습니다.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0168" y="3511271"/>
            <a:ext cx="5254600" cy="94246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8" y="3611855"/>
            <a:ext cx="49802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읽기 순서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8" y="3781876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초록 → 결론 → 표 → 방법 → 서론 순으로 읽습니다. 처음부터 정독하면 하루에 두 편도 못 읽습니다. 이 순서면 40편을 하루에 훑고, 그중 정독할 8편을 골라낼 수 있습니다.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0168" y="4616952"/>
            <a:ext cx="5254600" cy="752037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7328" y="4717536"/>
            <a:ext cx="49802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양의 기준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8" y="4887557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석사 논문 기준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정독 30~50편 · 인용 60~100편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통상적 수준입니다. 다만 숫자보다 중요한 것은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핵심 연구자 3~5명의 계보를 아는가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02 · 문헌고찰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31720" y="6382512"/>
            <a:ext cx="1708881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4006768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02 ·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읽은 것을 한 장의 표로 눌러 담아라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논문별 요약 노트는 나중에 아무 쓸모가 없습니다. 처음부터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비교 가능한 표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정리하면 문헌고찰 문단이 표에서 자동으로 나옵니다.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686814"/>
          <a:ext cx="10692079" cy="2080920"/>
        </p:xfrm>
        <a:graphic>
          <a:graphicData uri="http://schemas.openxmlformats.org/drawingml/2006/table">
            <a:tbl>
              <a:tblPr firstRow="0" bandRow="0"/>
              <a:tblGrid>
                <a:gridCol w="915047"/>
                <a:gridCol w="1570957"/>
                <a:gridCol w="1002204"/>
                <a:gridCol w="1417610"/>
                <a:gridCol w="1162211"/>
                <a:gridCol w="1993458"/>
                <a:gridCol w="2630592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저자(연도)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대상·표본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주요 변수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측정도구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핵심 결과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한계 / 내 연구와의 관계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김○○(2021)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육군 부사관 412명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횡단 서베이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교대근무→소진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MBI-GS 한국판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교대주기 짧을수록 소진↑ (β=.34)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함정 근무의 </a:t>
                      </a:r>
                      <a:r>
                        <a:rPr sz="1035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고립성</a:t>
                      </a: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미반영 → 본 연구의 차별점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Park(2019)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미 해군 승조원 1,208명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종단 2시점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파병기간→PTSD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PCL-5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6개월 초과 시 급증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미군 표본 → 한국 해군 일반화 불확실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이○○(2023)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해군 초급간부 236명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횡단 · 매개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응집력→몰입→잔류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자체 개발 척도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완전매개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도구 타당화 부족 → 본 연구는 검증된 척도 사용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최○○(2024)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해군 승조원 189명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질적 · 면담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해상근무 경험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반구조화 면담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‘회복 없는 일상’ 주제 도출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양적 검증 부재 → 본 연구가 계량화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32688" y="3946500"/>
            <a:ext cx="5254600" cy="1013060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047084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표에서 문단으로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233297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‘한계’ 열을 세로로 읽으면 연구 공백이 보이고, ‘측정도구’ 열을 세로로 읽으면 내가 쓸 도구가 결정되며, ‘핵심 결과’ 열을 세로로 읽으면 가설의 방향이 나옵니다.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8" y="3946500"/>
            <a:ext cx="5254600" cy="1013060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8" y="4047084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8" y="4233297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엑셀·구글시트로 충분합니다. 서지 관리는 Zotero(무료)나 EndNote를 쓰되,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PDF에 직접 메모하지 말고 반드시 표에 옮겨 적으십시오.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표에 옮기는 순간이 실제로 이해하는 순간입니다.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02 · 문헌고찰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31720" y="6382512"/>
            <a:ext cx="1840333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4138220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02 · 서술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909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"누가 무엇을 했다"가 아니라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"무엇이 밝혀졌다"로 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문헌고찰에서 가장 흔한 지적은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"연구 소개가 나열되어 있다"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주어를 연구자에서 </a:t>
            </a:r>
            <a:r>
              <a:rPr sz="12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주장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바꾸면 대부분 해결됩니다.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05152"/>
            <a:ext cx="5336896" cy="2598424"/>
          </a:xfrm>
          <a:prstGeom prst="rect">
            <a:avLst/>
          </a:prstGeom>
          <a:solidFill>
            <a:srgbClr val="DDD6D9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05736"/>
            <a:ext cx="506257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A01B26"/>
                </a:solidFill>
                <a:latin typeface="Courier New"/>
                <a:ea typeface="맑은 고딕"/>
                <a:cs typeface="맑은 고딕"/>
              </a:rPr>
              <a:t>× 나열형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91950"/>
            <a:ext cx="5062576" cy="11470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김○○(2021)은 육군 부사관 412명을 대상으로 교대근무와 소진의 관계를 연구하였다. 그 결과 교대주기가 짧을수록 소진이 높은 것으로 나타났다. 한편 이○○(2023)은 해군 초급간부 236명을 대상으로 응집력과 잔류의도의 관계를 연구하였다. 그 결과 조직몰입이 완전매개하는 것으로 나타났다. 또한 최○○(2024)은 질적 연구를 수행하였다.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612178"/>
            <a:ext cx="5062576" cy="458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→ 세 문단이 서로 대화하지 않는다. 읽고 나도 ‘그래서 무엇이 밝혀졌는가’를 말할 수 없다.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7872" y="2105152"/>
            <a:ext cx="5336896" cy="2598424"/>
          </a:xfrm>
          <a:prstGeom prst="rect">
            <a:avLst/>
          </a:prstGeom>
          <a:solidFill>
            <a:srgbClr val="CDDDDC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5032" y="2205736"/>
            <a:ext cx="506257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○ 종합형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2" y="2391950"/>
            <a:ext cx="5062576" cy="1605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군 조직에서 근무 강도가 소진을 높인다는 점은 비교적 일관되게 확인되어 왔다(김○○, 2021; Park, 2019). 다만 그 효과가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조직 요인에 의해 완충되는지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대해서는 결과가 갈린다. 응집력의 보호 효과를 보고한 연구(이○○, 2023)가 있는 반면, 함정과 같이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이탈이 불가능한 폐쇄 환경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에서는 응집력이 오히려 압력으로 작용할 가능성이 질적으로 제기된 바 있다(최○○, 2024). 즉 완충 가설은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근무 환경의 폐쇄성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고려하지 않은 채 검증되어 왔다.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32" y="4071009"/>
            <a:ext cx="5062576" cy="458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→ 합의점 · 불일치점 · 공백이 순서대로 드러나고, 마지막 문장이 곧 본 연구의 존재 이유가 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882341"/>
            <a:ext cx="3442106" cy="1013060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982925"/>
            <a:ext cx="316778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묶는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169139"/>
            <a:ext cx="3167786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연구자별이 아니라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쟁점별·변수별·시기별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소제목을 잡습니다.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7674" y="4882341"/>
            <a:ext cx="3442106" cy="804501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4834" y="4982925"/>
            <a:ext cx="316778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다중 인용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4834" y="5169139"/>
            <a:ext cx="3167786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같은 주장을 하는 연구는 괄호 안에 함께 묶습니다 </a:t>
            </a:r>
            <a:r>
              <a:rPr sz="1207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(A, 2021; B, 2023)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2661" y="4882341"/>
            <a:ext cx="3442106" cy="804501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9821" y="4982925"/>
            <a:ext cx="316778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마무리 문단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9821" y="5169139"/>
            <a:ext cx="3167786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각 절 끝에 "이상을 종합하면 ~"으로 시작하는 요약 문단을 반드시 붙입니다.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02 · 문헌고찰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6382512"/>
            <a:ext cx="1971786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4269673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Research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설계란 결과가 나온 뒤에 쏟아질 반론을 미리 막아두는 일입니다. 자료를 다 모은 뒤에는 어떤 통계도 잘못된 설계를 구제하지 못합니다.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97840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인과추론 3조건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424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설계 유형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5138" y="4828032"/>
            <a:ext cx="76250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타당도 4종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0798" y="4828032"/>
            <a:ext cx="87045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군 맥락 제약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03 · 연구설계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2103238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4401125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17 /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03 · 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909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"영향을 미친다"고 말하려면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세 가지를 동시에 보여야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591056"/>
            <a:ext cx="3442106" cy="171137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79519" y="1591056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691640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공변관계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80286"/>
            <a:ext cx="3167786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X가 변할 때 Y도 변한다. 상관계수·회귀계수가 담당하는 부분이며,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가장 쉬운 조건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784729"/>
            <a:ext cx="3167786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대부분의 석사 논문은 여기까지만 보이고 "영향을 미쳤다"고 씁니다.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7674" y="1591056"/>
            <a:ext cx="3442106" cy="132405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04506" y="1591056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4834" y="1691640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시간적 선행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4834" y="1980286"/>
            <a:ext cx="3167786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X가 Y보다 먼저 발생했다.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횡단 설계로는 원리상 확보 불가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합니다. 한 시점에 다 물었다면 소진이 높아서 근무를 힘들게 지각한 것일 수도 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2661" y="1591056"/>
            <a:ext cx="3442106" cy="1324051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9492" y="1591056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1691640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대안설명 배제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9821" y="1980286"/>
            <a:ext cx="3167786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X 말고 Y를 설명할 제3의 변수가 없다. 통제변수·무선할당·준실험 기법이 담당하며,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심사에서 가장 집요하게 파고드는 지점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3481197"/>
            <a:ext cx="5254600" cy="10130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581781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횡단 설계의 정직한 서술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767995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조건 2·3을 확보하지 못했다면 결론에서 ‘영향’·‘효과’가 아니라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‘관련’·‘연관’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이라고 씁니다. 이 한 단어 차이가 심사에서 "방법론을 이해하고 있다"는 신호가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168" y="3481197"/>
            <a:ext cx="5254600" cy="1013060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8" y="3581781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차선책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8" y="3767995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무선할당이 불가능한 군 조직에서는 ① 이론적으로 정당화된 시간 순서 명시, ② 핵심 교란변수 사전 측정·통제, ③ 가능하면 2시점 이상 측정 — 이 세 가지가 현실적인 최선입니다.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03 · 연구설계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31720" y="6382512"/>
            <a:ext cx="2234690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mond 38"/>
          <p:cNvSpPr/>
          <p:nvPr/>
        </p:nvSpPr>
        <p:spPr>
          <a:xfrm>
            <a:off x="4532578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03 ·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설계 유형 지도 — 무엇을 언제 고르는가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172718"/>
          <a:ext cx="10692078" cy="3637229"/>
        </p:xfrm>
        <a:graphic>
          <a:graphicData uri="http://schemas.openxmlformats.org/drawingml/2006/table">
            <a:tbl>
              <a:tblPr firstRow="0" bandRow="0"/>
              <a:tblGrid>
                <a:gridCol w="1163830"/>
                <a:gridCol w="2847157"/>
                <a:gridCol w="2092380"/>
                <a:gridCol w="2076474"/>
                <a:gridCol w="2512237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적합한 연구문제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강점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약점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군 적용 가능성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진실험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 교육 프로그램은 효과가 있는가?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인과 주장 가능 (무선할당)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현실적 실행 난이도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낮음 — 무선할당이 지휘체계와 충돌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준실험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신규 제도 도입 부대와 미도입 부대의 차이는?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현실적이면서 비교집단 확보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집단 간 사전 차이(선발편향)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높음 — 부대 단위 비교가 자연스러움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서베이 (횡단)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A와 B는 어떤 관계인가? 집단 간 차이는?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대규모·저비용·다변수 동시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인과 주장 불가, 동일방법편의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매우 높음 — 석사 논문의 표준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종단·패널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시간이 지나며 무엇이 변하는가?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시간적 선행 확보, 변화 추적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탈락, 기간 소요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중간 — 인사이동·전출입이 최대 난제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사례연구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 사건에서 무슨 일이 어떻게 벌어졌는가?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맥락의 깊이, 과정 규명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일반화 제한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높음 — 작전·사고 사례 분석에 적합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델파이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전문가들이 합의하는 우선순위는?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전문가 지식의 체계적 수렴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패널 구성에 결과가 좌우됨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높음 — 정책 과제 도출에 다수 활용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내용분석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문서·교범·언론은 무엇을 어떻게 다뤘는가?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비반응적 — 대상자 부담 없음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코딩 신뢰도 확보 부담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높음 — 교리·규정 자료 접근 용이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혼합방법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얼마나 그러하며, 왜 그러한가?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수치 + 해석의 상보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공수 2배, 통합 설계 난이도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중간 — 시간 여유가 있을 때만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03 · 연구설계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31720" y="6382512"/>
            <a:ext cx="2366143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4664030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03 · 타당도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내적타당도를 위협하는 것들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"X 때문에 Y가 변했다"는 주장에 대한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대안 설명 목록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심사위원은 이 목록을 머릿속에 두고 질문합니다.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470914"/>
          <a:ext cx="10692079" cy="3132482"/>
        </p:xfrm>
        <a:graphic>
          <a:graphicData uri="http://schemas.openxmlformats.org/drawingml/2006/table">
            <a:tbl>
              <a:tblPr firstRow="0" bandRow="0"/>
              <a:tblGrid>
                <a:gridCol w="1334684"/>
                <a:gridCol w="2846815"/>
                <a:gridCol w="3566797"/>
                <a:gridCol w="2943783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위협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군 맥락 예시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역사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연구 기간 중 외부 사건이 발생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측정 사이에 대형 사고·경계태세 격상 발생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통제집단, 측정 시점 기록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성숙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시간 경과에 따른 자연스러운 변화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입대 후 시간이 지나면 누구나 적응한다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비교집단 확보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검사효과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사전검사 자체가 사후를 바꿈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소진 문항에 응답한 뒤 자기 상태를 자각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솔로몬 4집단, 사후검사만 설계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도구효과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측정 방식이 중간에 바뀜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1차는 지면, 2차는 모바일로 조사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동일 도구·동일 방식 고정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통계적 회귀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극단값이 평균으로 돌아옴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‘소진 최상위’ 인원만 뽑아 프로그램 투입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극단값 기준 선발 회피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선발편향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집단이 처음부터 달랐음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지원자만 프로그램 참여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무선할당, PSM, 사전점수 통제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탈락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특정 성향자가 이탈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전출·파견자가 2차 조사에서 빠짐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탈락자·잔류자 사전점수 비교 보고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확산·보상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처치가 통제집단으로 새어감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같은 함정 내 통제집단이 교육내용을 전해 들음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부대 단위 배정, 사후 확인 문항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32688" y="4782160"/>
            <a:ext cx="10692079" cy="80450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882744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논문에 쓰는 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068957"/>
            <a:ext cx="10417759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모두 통제할 수는 없습니다. 통제하지 못한 위협은 ‘연구의 한계’에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이름을 정확히 불러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쓰십시오. "탈락편향의 가능성을 배제할 수 없다. 다만 탈락자와 잔류자의 1차 소진 점수 차이는 유의하지 않았다(t=1.02, p=.31)"는 서술은 약점이 아니라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역량의 증거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읽힙니다.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03 · 연구설계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82512"/>
            <a:ext cx="2497595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4795482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03 · 타당도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타당도는 하나가 아니라 넷이다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2535860" cy="150281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73959" y="1172718"/>
            <a:ext cx="394589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내적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273302"/>
            <a:ext cx="175862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정말 X가 원인인가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561948"/>
            <a:ext cx="226154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관찰된 관계가 인과인가, 아니면 제3변수·설계 결함의 산물인가.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157832"/>
            <a:ext cx="226154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핵심 도구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무선할당 · 통제변수 · 비교집단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1428" y="1172718"/>
            <a:ext cx="2535860" cy="194972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92699" y="1172718"/>
            <a:ext cx="394589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외적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8588" y="1273302"/>
            <a:ext cx="1758620" cy="522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어디까지 일반화되는가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8588" y="1800301"/>
            <a:ext cx="226154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표본의 결과가 다른 대상·시기·장소·부대에도 적용되는가.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8588" y="2604745"/>
            <a:ext cx="226154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핵심 도구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확률표집 · 표본 대표성 서술 · 재현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8" y="1172718"/>
            <a:ext cx="2535860" cy="1711376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11438" y="1172718"/>
            <a:ext cx="394589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1273302"/>
            <a:ext cx="175862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재려던 것을 쟀는가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8" y="1561948"/>
            <a:ext cx="226154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‘소진’ 점수가 정말 소진인가, 그냥 피로·불만인가. 개념과 측정의 일치도.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8" y="2366391"/>
            <a:ext cx="226154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핵심 도구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요인분석 · 수렴/판별타당도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8907" y="1172718"/>
            <a:ext cx="2535860" cy="194972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230178" y="1172718"/>
            <a:ext cx="394589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067" y="1273302"/>
            <a:ext cx="1758620" cy="522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결론이 통계적으로 정당한가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067" y="1800301"/>
            <a:ext cx="226154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검정력 부족, 가정 위반, 다중검정, 신뢰도 낮은 측정이 결론을 왜곡하지 않았는가.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067" y="2604745"/>
            <a:ext cx="226154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핵심 도구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검정력 분석 · 가정 검토 · 효과크기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3301213"/>
            <a:ext cx="10692079" cy="10130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3401797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상충 관계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3588010"/>
            <a:ext cx="10417759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네 가지는 종종 서로를 갉아먹습니다. 실험실에서 조건을 엄격히 통제하면 내적타당도는 올라가지만 외적타당도는 떨어집니다. 반대로 실제 부대에서 자연스럽게 조사하면 외적타당도는 확보되지만 대안설명이 늘어납니다.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어느 쪽을 우선했고 왜 그랬는지를 방법 장에 명시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하는 것이 성숙한 설계입니다.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03 · 연구설계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31720" y="6382512"/>
            <a:ext cx="2629047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iamond 42"/>
          <p:cNvSpPr/>
          <p:nvPr/>
        </p:nvSpPr>
        <p:spPr>
          <a:xfrm>
            <a:off x="4926935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03 · 현실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군 조직에서 연구한다는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군은 연구자에게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최고의 접근성과 최악의 편향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동시에 줍니다. 이 구조적 특성을 설계 단계에서 다루지 않으면 자료는 모였지만 해석할 수 없는 상태가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5254600" cy="130695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7398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계급 구조 — 자발성의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38736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지휘관이 배포한 설문에 ‘참여하지 않을 자유’는 형식적으로만 존재합니다. 응답률이 98%인 군 설문은 대표성이 좋은 것이 아니라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강제성이 강했던 것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541351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대응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온라인 링크 자율 접속 · 미참여 시 불이익 없음 명시 · 지휘계선과 분리된 회수 경로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44550"/>
            <a:ext cx="5254600" cy="130695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245134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사회적 바람직성 편향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496473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"부대에 불만이 있는가"에 정직하게 답하면 자신에게 돌아올 수 있다는 인식이 있는 한, 응답은 위쪽으로 쏠립니다.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999088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대응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완전 익명 보장 절차를 </a:t>
            </a:r>
            <a:r>
              <a:rPr sz="101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설문 첫 화면에 구체적으로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기술 · 개인식별정보 미수집 · 부대 단위 최소 집계 인원(예: 10명 미만 부대는 결과 미분리) 사전 공지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602287"/>
            <a:ext cx="5254600" cy="130695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702871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보안 — 자료의 공개 가능성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954209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수집 단계에서는 문제없던 자료가 논문 게재 단계에서 걸릴 수 있습니다. 부대명·함정명·작전 정보·정원 규모는 특히 민감합니다.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456824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대응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착수 전 보안심사 요건 확인 · 부대는 A·B·C로 익명 코딩 · 원자료 보관 및 파기 절차 사전 합의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8" y="1686814"/>
            <a:ext cx="5254600" cy="130695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8" y="1787398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인사이동 — 종단 연구의 천적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8" y="2038736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6개월 뒤 2차 조사를 하면 상당수가 전출·전역합니다. 종단 설계 시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탈락률 30~50%를 기본 가정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표본을 잡아야 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8" y="2541351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대응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1차 표본을 목표의 1.6~2배로 · 개인 식별은 부대 무관 코드(예: 휴대폰 뒷자리 해시)로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0168" y="3144550"/>
            <a:ext cx="5254600" cy="130695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7328" y="3245134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집단 구조 — 자료의 위계성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8" y="3496473"/>
            <a:ext cx="4980280" cy="573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승조원은 함정에, 함정은 전단에 속합니다. 같은 함정 인원의 응답은 서로 독립적이지 않습니다. 이를 무시하고 개인 단위 회귀를 돌리면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표준오차가 과소추정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되어 없는 효과가 유의하게 나옵니다.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4175003"/>
            <a:ext cx="4980280" cy="221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대응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ICC 확인 → 필요 시 다층모형(HLM) 또는 군집 강건표준오차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0168" y="4602287"/>
            <a:ext cx="5254600" cy="88598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328" y="4702871"/>
            <a:ext cx="4980280" cy="15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24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IRB는 예외 없이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8" y="4859938"/>
            <a:ext cx="4980280" cy="573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사람을 대상으로 자료를 수집하면 소속 기관의 생명윤리위원회(IRB) 심의 대상입니다. 심의 없이 수집한 자료는 학술지 투고 단계에서 </a:t>
            </a:r>
            <a:r>
              <a:rPr sz="101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되돌릴 수 없이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막힙니다. 자료 수집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이전에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신청하십시오. 사후 승인은 없습니다.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03 · 연구설계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1720" y="6382512"/>
            <a:ext cx="2760500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/>
          <p:cNvSpPr/>
          <p:nvPr/>
        </p:nvSpPr>
        <p:spPr>
          <a:xfrm>
            <a:off x="5058387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표본과 표집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"몇 명을 조사했는가"보다 "누가 빠졌는가"가 결과를 결정합니다. 표집은 통계 이전의 문제이며, 잘못된 표본은 어떤 분석으로도 교정되지 않습니다.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128066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모집단·표집틀·표본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508" y="4828032"/>
            <a:ext cx="108635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확률/비확률 표집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601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표본 크기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908" y="4828032"/>
            <a:ext cx="80568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무응답 편향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04 · 표본과 표집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2891952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5189839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04 ·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오차는 네 번 발생한다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표본이 모집단을 대표하지 못하게 만드는 지점은 네 곳이며, 각각 다른 처방이 필요합니다.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470914"/>
            <a:ext cx="10692079" cy="3417570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fi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460" y="1571498"/>
            <a:ext cx="4288536" cy="32164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32688" y="5051704"/>
            <a:ext cx="2535860" cy="94246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5152288"/>
            <a:ext cx="226154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① 커버리지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322310"/>
            <a:ext cx="226154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파견·교육 중 인원, 신규 전입자가 명부에서 빠지면 그 집단은 처음부터 조사 대상이 아니다.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1428" y="5051704"/>
            <a:ext cx="2535860" cy="94246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8588" y="5152288"/>
            <a:ext cx="226154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② 표집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8588" y="5322310"/>
            <a:ext cx="226154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유일하게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공식으로 계산되는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오차. 신뢰구간이 표현하는 것이 바로 이것뿐이다.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8" y="5051704"/>
            <a:ext cx="2535860" cy="94246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8" y="5152288"/>
            <a:ext cx="226154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③ 무응답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5322310"/>
            <a:ext cx="226154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가장 위험하다. 바쁜 부대일수록 응답률이 낮고, 바쁜 부대일수록 소진이 높다.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8907" y="5051704"/>
            <a:ext cx="2535860" cy="752037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067" y="5152288"/>
            <a:ext cx="226154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④ 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067" y="5322310"/>
            <a:ext cx="226154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Part 05의 주제. 문항이 나쁘면 표본이 완벽해도 결과는 틀린다.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04 · 표본과 표집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31720" y="6382512"/>
            <a:ext cx="3023405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5321292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24 /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04 ·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확률표집과 비확률표집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246989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73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2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확률표집 — 선택 확률을 아는 경우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551584"/>
          <a:ext cx="4980280" cy="1990446"/>
        </p:xfrm>
        <a:graphic>
          <a:graphicData uri="http://schemas.openxmlformats.org/drawingml/2006/table">
            <a:tbl>
              <a:tblPr firstRow="0" bandRow="0"/>
              <a:tblGrid>
                <a:gridCol w="899654"/>
                <a:gridCol w="2208069"/>
                <a:gridCol w="1872557"/>
              </a:tblGrid>
              <a:tr h="340868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절차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군 적용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단순무작위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명부에서 난수로 n명 추출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인사DB 접근 가능 시 최선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928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계통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난수 시작 후 매 k번째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명부가 계급순이면 주기성 주의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928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층화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계급·직별로 층을 나눠 각 층에서 추출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가장 권장</a:t>
                      </a: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— 소수 집단 확보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집락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함정·부대 단위로 뽑아 전수조사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현실적이나 위계 구조 발생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932688" y="3813607"/>
            <a:ext cx="5254600" cy="1177252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914191"/>
            <a:ext cx="49802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층화표집이 군에 잘 맞는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092308"/>
            <a:ext cx="4980280" cy="843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해군 인력은 계급·직별·근무형태(함정/육상)로 구조가 명확합니다. 각 층의 모집단 비율을 알면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비례배분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대표성을 확보할 수 있고, 여군처럼 비율이 작은 집단은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과대배분 후 가중치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분석 가능한 사례수를 확보할 수 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8" y="1172718"/>
            <a:ext cx="5254600" cy="2148027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8" y="1273302"/>
            <a:ext cx="4980280" cy="273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2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비확률표집 — 선택 확률을 모르는 경우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07328" y="1551584"/>
          <a:ext cx="4980280" cy="1668576"/>
        </p:xfrm>
        <a:graphic>
          <a:graphicData uri="http://schemas.openxmlformats.org/drawingml/2006/table">
            <a:tbl>
              <a:tblPr firstRow="0" bandRow="0"/>
              <a:tblGrid>
                <a:gridCol w="668543"/>
                <a:gridCol w="2243391"/>
                <a:gridCol w="2068346"/>
              </a:tblGrid>
              <a:tr h="340868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절차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정당한 사용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편의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접근 가능한 사람을 조사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예비조사, 도구 검토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목적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기준에 맞는 사람을 의도적으로 선정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질적 연구, 델파이 패널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할당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집단별 목표 인원을 채움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층 구조를 알지만 명부가 없을 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눈덩이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참여자가 다음 참여자를 소개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접근이 어려운 소수 집단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370168" y="3491738"/>
            <a:ext cx="5254600" cy="1975218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8" y="3592322"/>
            <a:ext cx="49802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정직하게 쓰는 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3770440"/>
            <a:ext cx="4980280" cy="1641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석사 논문의 상당수는 사실상 편의표집입니다. 그것 자체는 결격 사유가 아닙니다.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편의표집을 확률표집인 것처럼 쓰는 것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문제입니다.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× "해군 부사관을 무작위로 표집하였다"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(난수를 쓰지 않았다면 거짓)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○ "연구자가 접근 가능한 3개 전단 소속 부사관을 대상으로 편의표집하였다. 따라서 결과를 해군 전체로 일반화하는 데에는 신중을 요한다."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04 · 표본과 표집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82512"/>
            <a:ext cx="3154857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5452744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04 · 규모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"몇 명이면 됩니까?" — 근거 있게 답하는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정답은 "분석하려는 기법과 기대 효과크기에 달려 있다"입니다. 심사에서 "왜 300명입니까"라고 물었을 때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검정력 분석 결과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제시할 수 있어야 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686814"/>
          <a:ext cx="6037199" cy="2849425"/>
        </p:xfrm>
        <a:graphic>
          <a:graphicData uri="http://schemas.openxmlformats.org/drawingml/2006/table">
            <a:tbl>
              <a:tblPr firstRow="0" bandRow="0"/>
              <a:tblGrid>
                <a:gridCol w="1609146"/>
                <a:gridCol w="1509449"/>
                <a:gridCol w="1509449"/>
                <a:gridCol w="1409155"/>
              </a:tblGrid>
              <a:tr h="487528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작은 효과 (f²=.02 / d=.2)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중간 효과 (f²=.15 / d=.5)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큰 효과 (f²=.35 / d=.8)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독립표본 t검정 </a:t>
                      </a:r>
                      <a:r>
                        <a:rPr sz="945" b="1">
                          <a:solidFill>
                            <a:srgbClr val="0B1F2A"/>
                          </a:solidFill>
                          <a:latin typeface="Courier New"/>
                          <a:ea typeface="맑은 고딕"/>
                          <a:cs typeface="맑은 고딕"/>
                        </a:rPr>
                        <a:t>(집단당)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394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상관분석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783 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Courier New"/>
                          <a:ea typeface="맑은 고딕"/>
                          <a:cs typeface="맑은 고딕"/>
                        </a:rPr>
                        <a:t>(r=.1)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85 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Courier New"/>
                          <a:ea typeface="맑은 고딕"/>
                          <a:cs typeface="맑은 고딕"/>
                        </a:rPr>
                        <a:t>(r=.3)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29 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Courier New"/>
                          <a:ea typeface="맑은 고딕"/>
                          <a:cs typeface="맑은 고딕"/>
                        </a:rPr>
                        <a:t>(r=.5)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다중회귀 </a:t>
                      </a:r>
                      <a:r>
                        <a:rPr sz="945" b="1">
                          <a:solidFill>
                            <a:srgbClr val="0B1F2A"/>
                          </a:solidFill>
                          <a:latin typeface="Courier New"/>
                          <a:ea typeface="맑은 고딕"/>
                          <a:cs typeface="맑은 고딕"/>
                        </a:rPr>
                        <a:t>예측변수 5개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647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92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일원분산분석 </a:t>
                      </a:r>
                      <a:r>
                        <a:rPr sz="945" b="1">
                          <a:solidFill>
                            <a:srgbClr val="0B1F2A"/>
                          </a:solidFill>
                          <a:latin typeface="Courier New"/>
                          <a:ea typeface="맑은 고딕"/>
                          <a:cs typeface="맑은 고딕"/>
                        </a:rPr>
                        <a:t>집단 4개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1,096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180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구조방정식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경험칙: 추정 모수 1개당 10~20명, 최소 200명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탐색적 요인분석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경험칙: 문항 1개당 5~10명, 최소 200~300명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32688" y="4563669"/>
            <a:ext cx="603720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α=.05, 검정력(1−β)=.80, 양측 기준 · G*Power 3.1 산출값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2768" y="1686814"/>
            <a:ext cx="4472000" cy="1704156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9928" y="1787398"/>
            <a:ext cx="41976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계산에 필요한 네 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9928" y="1957419"/>
            <a:ext cx="4197680" cy="1378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① 유의수준 α = .05 (관례)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② 검정력 1−β = .80 이상 (관례, 사회과학)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③ 기대 효과크기 —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선행연구에서 가져옵니다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④ 분석 기법과 예측변수 수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중 ③이 핵심입니다. 유사 선행연구의 β 또는 r 값을 근거로 제시하면 "왜 중간 효과를 가정했는가"에 답할 수 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2768" y="3554190"/>
            <a:ext cx="4472000" cy="1323308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9928" y="3654774"/>
            <a:ext cx="41976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실무 절차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928" y="3824795"/>
            <a:ext cx="4197680" cy="9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① G*Power(무료)로 필요 표본 n 산출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② 예상 회수율로 나눔 — 군 온라인 조사는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30~50%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현실적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③ 불성실 응답 제거분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10%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추가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필요 312명 ÷ 0.40 = 780부 배포 → 여유분 포함 850부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2768" y="5040719"/>
            <a:ext cx="4472000" cy="94246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9928" y="5141303"/>
            <a:ext cx="41976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반대 방향의 함정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9928" y="5311324"/>
            <a:ext cx="41976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표본이 지나치게 크면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실질적으로 무의미한 차이도 통계적으로 유의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해집니다. n=5,000이면 r=.03도 p&lt;.05입니다. 그래서 효과크기를 반드시 함께 보고해야 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04 · 표본과 표집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82512"/>
            <a:ext cx="3286309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5584197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04 · 편향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답하지 않은 사람이 결론을 바꾼다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1711376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왜 위험한가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무응답이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무작위로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발생하면 표본만 줄어들 뿐 편향은 없습니다. 문제는 무응답이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 변수와 상관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될 때입니다.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157832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전형적 시나리오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소진이 극심한 인원 → 설문 참여할 여력 없음 → 응답자에서 빠짐 →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소진 수준이 과소 추정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→ "생각보다 양호하다"는 잘못된 결론.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062859"/>
            <a:ext cx="5254600" cy="1609420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163443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진단하는 세 가지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452089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452089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응답자 vs 모집단 비교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계급·직별·연령 분포를 인사통계와 대조하고 논문에 표로 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894811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894811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조기응답 vs 후기응답 비교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마감 직전 응답자는 무응답자와 유사하다고 가정. 두 집단의 주요 변수 평균을 t검정으로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33753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337533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무응답자 추적 조사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무응답자 중 소수(30~50명)에게 축약본 조사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168" y="1172718"/>
            <a:ext cx="5254600" cy="2311908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회수율을 올리는 실무 수단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8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3632" y="1561948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길이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10분 이내. 20분 넘으면 이탈률이 급증합니다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8" y="179611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3632" y="1796110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시점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훈련·검열 기간, 인사이동 시기 회피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8" y="2030273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632" y="2030273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모바일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함정 승조원은 PC 접근이 제한됩니다. 반드시 모바일 우선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247299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3632" y="2472995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진행 표시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남은 분량이 보이면 완료율이 오릅니다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8" y="270715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3632" y="2707157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1회 상기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1주 후 리마인더 1회. 그 이상은 강압으로 인식됩니다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8" y="2941320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3632" y="2941320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결과 환류 약속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"결과 요약을 부대에 공유하겠다"는 실제로 효과가 있습니다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0168" y="3663391"/>
            <a:ext cx="5254600" cy="1221619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7328" y="3763975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논문에 반드시 쓸 문장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8" y="3950189"/>
            <a:ext cx="4980280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"총 850부를 배포하여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376부가 회수되었고(회수율 44.2%)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, 불성실 응답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28부를 제외한 348부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최종 분석에 사용하였다. 응답자의 계급 분포는 2025년 해군 인사통계와 비교 시 중사 계급이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4.1%p 과대표집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되었으나 카이제곱 검정 결과 유의한 차이는 없었다(χ²=5.31, p=.15)."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04 · 표본과 표집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31720" y="6382512"/>
            <a:ext cx="3417762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>
            <a:off x="5715649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측정과 설문개발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Measurement &amp; Instrument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설문지는 자료 수집 도구가 아니라 측정 기기입니다. 눈금이 어긋난 기기로 잰 값은 아무리 많이 모아도 정확해지지 않습니다.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63296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측정수준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8808" y="4828032"/>
            <a:ext cx="80568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리커트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7648" y="4828032"/>
            <a:ext cx="95681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신뢰도·타당도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618" y="4828032"/>
            <a:ext cx="74091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DRM6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3549214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5847101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측정수준이 분석 가능한 범위를 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설문 문항을 만드는 순간 분석 기법이 결정됩니다. 나중에 "평균을 내고 싶은데 안 되네"를 겪지 않으려면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설계 시점에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정해야 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686814"/>
          <a:ext cx="10692080" cy="1744422"/>
        </p:xfrm>
        <a:graphic>
          <a:graphicData uri="http://schemas.openxmlformats.org/drawingml/2006/table">
            <a:tbl>
              <a:tblPr firstRow="0" bandRow="0"/>
              <a:tblGrid>
                <a:gridCol w="889011"/>
                <a:gridCol w="2388873"/>
                <a:gridCol w="2735288"/>
                <a:gridCol w="2061766"/>
                <a:gridCol w="2617142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수준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성질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가능한 통계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가능한 분석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명목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구분만 가능. 순서 없음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직별, 근무형태(함정/육상), 성별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빈도, 최빈값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교차분석(χ²), 로지스틱회귀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서열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순서 있으나 간격이 불균등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계급, 학력, 만족도 3단계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중앙값, 백분위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비모수 검정, 순서형 로짓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등간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간격 균등. 절대영점 없음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리커트 합산점수, 표준점수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평균, 표준편차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t검정, ANOVA, 회귀, 요인분석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비율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간격 균등 + 절대영점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연간 항해일수, 근속연수, 나이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모든 통계 + 비율 계산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모든 모수 분석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32688" y="3610000"/>
            <a:ext cx="5254600" cy="122161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710584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리커트는 서열인가 등간인가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896798"/>
            <a:ext cx="4980280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엄밀히는 서열입니다. 그러나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여러 문항을 합산 또는 평균한 점수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는 관례적으로 등간으로 취급하며, 사회과학에서 널리 수용됩니다. 다만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단일 문항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등간처럼 다루는 것은 근거가 약합니다. 하나의 개념은 최소 3문항 이상으로 재십시오.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8" y="3610000"/>
            <a:ext cx="5254600" cy="1013060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8" y="3710584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수집 단계의 원칙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8" y="3896798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가능하면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가장 높은 수준으로 수집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하십시오. 나이를 "20대/30대"로 받으면 영원히 서열이지만, 연도로 받으면 나중에 얼마든지 범주화할 수 있습니다.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정보는 내려갈 수만 있고 올라갈 수 없습니다.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31720" y="6382512"/>
            <a:ext cx="3680666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5978554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척도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리커트 척도, 네 가지 설계 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1919935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1 · 몇 점 척도인가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4980280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5점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응답 부담 낮음, 일반 대중 조사에 적합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7점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변별력·신뢰도 높음, 학술 연구의 표준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4·6점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중립 회피를 강제. 응답자 반발 가능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10·11점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단일 문항 지표(NPS 등)에 적합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74950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권고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기존 척도를 쓴다면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원 척도의 점수 체계를 바꾸지 마십시오.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7점을 5점으로 줄이는 순간 원 도구의 신뢰도·타당도 근거를 잃습니다.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271418"/>
            <a:ext cx="5254600" cy="132405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3720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2 · 중간점을 둘 것인가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660648"/>
            <a:ext cx="4980280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중간점이 있으면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무의견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과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진짜 중립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섞이고, 없으면 응답자를 강제로 한쪽에 세웁니다.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학술 연구에서는 보통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중간점을 둡니다.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다만 "모르겠다"를 별도 보기로 분리하면 두 문제를 동시에 해결할 수 있습니다.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774235"/>
            <a:ext cx="5254600" cy="111549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874819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3 · 모든 점에 라벨을 붙일 것인가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5163464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양 끝만 라벨링(anchor only)보다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전 점 라벨링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신뢰도가 높습니다.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전혀 그렇지 않다 · 그렇지 않다 · 약간 그렇지 않다 · 보통이다 · 약간 그렇다 · 그렇다 · 매우 그렇다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8" y="1172718"/>
            <a:ext cx="5254600" cy="171137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4 · 역문항을 넣을 것인가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1561948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찬성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무성의한 일괄응답(straight-lining)을 탐지할 수 있습니다.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반대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역문항은 요인분석에서 별도 요인으로 잘못 묶이는 인공물을 자주 만듭니다.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8" y="2366391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권고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역문항 대신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주의점검 문항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1~2개 넣으십시오. "이 문항은 3번에 표시해 주십시오." 훨씬 깨끗하게 걸러집니다.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0168" y="3062859"/>
            <a:ext cx="5254600" cy="10130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8" y="3163443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역채점을 잊지 마십시오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8" y="3349657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역문항을 넣었다면 분석 전 반드시 역채점합니다. </a:t>
            </a:r>
            <a:r>
              <a:rPr sz="1207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(척도최대값 + 1) − 원점수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. 7점 척도의 5점 → 3점.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이 처리를 빠뜨려 신뢰도가 α=.42로 나오는 사고가 매년 반복됩니다.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0168" y="4254684"/>
            <a:ext cx="5254600" cy="80450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7328" y="4355268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척도 방향 통일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8" y="4541482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한 설문 안에서 "1=전혀 아니다"와 "1=매우 그렇다"가 섞이면 응답자도 연구자도 반드시 실수합니다.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전 문항 동일 방향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고정하십시오.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31720" y="6382512"/>
            <a:ext cx="3812119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/>
          <p:cNvSpPr/>
          <p:nvPr/>
        </p:nvSpPr>
        <p:spPr>
          <a:xfrm>
            <a:off x="6110006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문항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고장난 문항 여덟 가지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172718"/>
          <a:ext cx="10692080" cy="3637229"/>
        </p:xfrm>
        <a:graphic>
          <a:graphicData uri="http://schemas.openxmlformats.org/drawingml/2006/table">
            <a:tbl>
              <a:tblPr firstRow="0" bandRow="0"/>
              <a:tblGrid>
                <a:gridCol w="2581670"/>
                <a:gridCol w="3993859"/>
                <a:gridCol w="4116551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진단명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× 문제 문항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○ 교정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이중질문 </a:t>
                      </a:r>
                      <a:r>
                        <a:rPr sz="1035" b="1">
                          <a:solidFill>
                            <a:srgbClr val="0B1F2A"/>
                          </a:solidFill>
                          <a:latin typeface="Courier New"/>
                          <a:ea typeface="맑은 고딕"/>
                          <a:cs typeface="맑은 고딕"/>
                        </a:rPr>
                        <a:t>double-barreled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나는 상관의 지시가 </a:t>
                      </a: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명확하고 공정</a:t>
                      </a: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하다고 느낀다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 문항으로 분리: ① 지시가 명확하다 ② 지시가 공정하다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유도질문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과중한 당직 부담이 사기를 떨어뜨린다고 생각하십니까?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현재 당직 주기가 본인의 사기에 미치는 영향은? (매우 부정적 ↔ 매우 긍정적)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이중부정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나는 부대 정책에 </a:t>
                      </a: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동의하지 않는 것은 아니다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나는 부대 정책에 동의한다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전문용어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귀하의 조직시민행동 수준은?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나는 내 담당이 아닌 일도 필요하면 돕는다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모호한 수량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당직을 </a:t>
                      </a: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자주</a:t>
                      </a: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서십니까?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최근 4주간 당직 근무 횟수: ___회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기억 부담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지난 1년간 야간근무 시간 총합은?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최근 2주간 야간근무 일수 (또는 근무기록 대조)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가정 전제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복지시설 이용에 얼마나 만족하십니까?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먼저 이용 여부를 묻고, 이용자에게만 만족도 문항 제시(분기)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사회적 바람직성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나는 상관의 부당한 지시에 문제를 제기한다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3자 상황 제시형으로 전환: "동료가 그러한 상황에 처했을 때 일반적으로 어떻게 하리라고 보십니까?"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32688" y="4988712"/>
            <a:ext cx="10692079" cy="80450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089296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자가 점검 3문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275510"/>
            <a:ext cx="10417759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① 이 문항에 "네"라고 답한 두 사람이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같은 뜻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답했다고 확신할 수 있는가? ② 문항에 ‘그리고’·‘또는’이 들어 있는가? ③ 나의 기대가 문항에 드러나 있는가?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6382512"/>
            <a:ext cx="3943571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6241458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신뢰도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신뢰도 — 다시 재도 같은 값이 나오는가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172718"/>
          <a:ext cx="6037199" cy="2417418"/>
        </p:xfrm>
        <a:graphic>
          <a:graphicData uri="http://schemas.openxmlformats.org/drawingml/2006/table">
            <a:tbl>
              <a:tblPr firstRow="0" bandRow="0"/>
              <a:tblGrid>
                <a:gridCol w="871230"/>
                <a:gridCol w="2070330"/>
                <a:gridCol w="1551902"/>
                <a:gridCol w="1543737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종류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확인하는 것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내적일관성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한 개념을 재는 문항들이 서로 일관되는가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Cronbach's α, McDonald's ω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.70 이상 수용 .80 이상 양호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검사-재검사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시간이 지나도 같은 값이 나오는가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 시점 상관계수 r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.70 이상 (2~4주 간격)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평정자간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 사람이 코딩해도 같은가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Cohen's κ, ICC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κ ≥ .61 상당 κ ≥ .81 우수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반분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문항을 반으로 갈라도 일치하는가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Spearman-Brown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.70 이상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32688" y="3768903"/>
            <a:ext cx="6037200" cy="1847298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869487"/>
            <a:ext cx="57628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α에 대한 세 가지 오해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055701"/>
            <a:ext cx="5762880" cy="1505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①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α가 높으면 타당하다?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아닙니다. 같은 질문을 말만 바꿔 7번 물으면 α는 .95가 나오지만 아무것도 타당하지 않습니다.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②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α가 높을수록 좋다?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.95를 넘으면 문항 중복을 의심해야 합니다.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③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α는 문항 수에 영향받지 않는다?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문항이 많을수록 자동으로 올라갑니다. 3문항의 α=.75는 20문항의 α=.85보다 좋은 신호입니다.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2768" y="1172718"/>
            <a:ext cx="4472000" cy="1638738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9928" y="1273302"/>
            <a:ext cx="41976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α가 낮게 나왔을 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9928" y="1459516"/>
            <a:ext cx="4197680" cy="129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① 역채점 누락 확인 (가장 흔한 원인)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② 문항-총점 상관이 .30 미만인 문항 확인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③ 해당 문항 제거 시 α 상승폭 확인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④ 제거는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이론적 근거가 있을 때만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. 통계만 보고 지우면 개념의 일부를 잘라내는 것입니다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⑤ 제거했다면 논문에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어느 문항을 왜 제거했는지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명시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2768" y="2990221"/>
            <a:ext cx="4472000" cy="1013060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9928" y="3090805"/>
            <a:ext cx="41976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보고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9928" y="3277019"/>
            <a:ext cx="41976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"직무소진 척도의 내적일관성은 정서적 고갈 α=.89, 냉소 α=.84, 효능감 저하 α=.78로 모두 수용 기준(.70)을 상회하였다. 전체 15문항의 α는 .91이었다."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2768" y="4182046"/>
            <a:ext cx="4472000" cy="143017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9928" y="4282630"/>
            <a:ext cx="41976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α 대신 ω를 권하는 이유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928" y="4468844"/>
            <a:ext cx="4197680" cy="10885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α는 모든 문항이 개념에 동일하게 기여한다는 강한 가정(타우등가성)에 기댑니다. 현실의 척도는 대개 그렇지 않아 α는 신뢰도를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과소추정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합니다. 최근 학술지는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McDonald's ω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함께 요구하는 추세이며, JASP·jamovi(둘 다 무료)에서 클릭 한 번으로 산출됩니다.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6382512"/>
            <a:ext cx="4075024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6372911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타당도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타당도 — 재려던 그것을 쟀는가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신뢰도는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일관성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이고 타당도는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정확성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눈금이 5kg 어긋난 저울은 몇 번을 재도 같은 값을 주지만(신뢰도 높음), 그 값은 틀렸습니다(타당도 없음).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5254600" cy="130695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7398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내용타당도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38736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문항들이 개념의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전 범위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빠짐없이 덮는가. 통계가 아니라 </a:t>
            </a:r>
            <a:r>
              <a:rPr sz="101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전문가 판단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541351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절차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전문가 5~10인에게 각 문항의 적절성을 4점으로 평정 →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CVI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(내용타당도지수) 산출 → 문항 CVI ≥ .78, 척도 평균 CVI ≥ .90 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44550"/>
            <a:ext cx="5254600" cy="133208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245134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준거타당도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496473"/>
            <a:ext cx="4980280" cy="9252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외부의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정답에 가까운 기준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과 얼마나 일치하는가.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공인타당도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동시점 기준과의 상관 — 소진 점수 ↔ 최근 6개월 병가일수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예측타당도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미래 결과 예측력 — 잔류의도 점수 ↔ 1년 뒤 실제 전역 여부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627418"/>
            <a:ext cx="5254600" cy="1482867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728002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구성타당도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979340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측정치가 이론이 예측하는 방식으로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다른 변수들과 관계 맺는가.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학위논문에서 가장 자주 요구되는 검증입니다.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481955"/>
            <a:ext cx="4980280" cy="573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수렴타당도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비슷한 개념과는 높은 상관 (AVE ≥ .50, CR ≥ .70)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판별타당도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다른 개념과는 낮은 상관 (√AVE &gt; 개념 간 상관)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168" y="1686814"/>
            <a:ext cx="5254600" cy="710066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8" y="1787398"/>
            <a:ext cx="4980280" cy="15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24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동일방법편의 (CMB)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8" y="1944465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독립변수와 종속변수를 </a:t>
            </a:r>
            <a:r>
              <a:rPr sz="101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같은 사람이, 같은 시점에, 같은 형식으로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답하면 실제보다 상관이 부풀려집니다. 횡단 설문 연구의 고질적 약점이며, 심사에서 반드시 나옵니다.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8" y="2547664"/>
            <a:ext cx="5254600" cy="1061897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8" y="2648248"/>
            <a:ext cx="4980280" cy="15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24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기존 척도를 쓰는 것이 정답인 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8" y="2805316"/>
            <a:ext cx="4980280" cy="7493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검증된 척도를 쓰면 타당도 논증의 대부분을 선행연구에서 조달할 수 있습니다. 자체 개발 척도를 쓰겠다면 </a:t>
            </a:r>
            <a:r>
              <a:rPr sz="101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탐색적 요인분석 → 확인적 요인분석 → 신뢰도 → 타당도 검증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이라는 별도의 연구가 논문 안에 하나 더 들어갑니다. 석사 과정에서 이는 대개 감당하기 어렵습니다.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0168" y="3760346"/>
            <a:ext cx="5254600" cy="885981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8" y="3860930"/>
            <a:ext cx="4980280" cy="15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24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번안 절차 (원 척도가 영문일 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4017997"/>
            <a:ext cx="4980280" cy="573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① 이중언어자 2인이 독립 번역 → ② 합의본 작성 → ③ 원문을 모르는 제3자가 </a:t>
            </a: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역번역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→ ④ 원문과 대조하여 의미 이탈 확인 → ⑤ 군 맥락 용어 조정("supervisor" → "직속상관") → ⑥ 예비조사 → ⑦ 원저자 사용 허락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31720" y="6382512"/>
            <a:ext cx="4206476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/>
          <p:cNvSpPr/>
          <p:nvPr/>
        </p:nvSpPr>
        <p:spPr>
          <a:xfrm>
            <a:off x="6504363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33 / 63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본조사 전에 반드시 하는 두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2592629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인지면접 — 5~8명, 각 40분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응답자에게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문항을 읽으며 생각하는 것을 소리 내어 말하게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합니다. 통계로는 절대 잡히지 않는 문제가 여기서 잡힙니다.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157832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157832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"이 문항은 무슨 뜻이라고 이해하셨습니까?"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391994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391994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"어떻게 그 답을 고르셨습니까?"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62615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626157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"답하기 어려웠던 부분이 있었습니까?"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039085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실제로 잡히는 것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"부대"가 함정을 말하는지 전단을 말하는지 몰랐다 · "상관"이 직속상관인지 함장인지 헷갈렸다 · 최근 4주에 휴가가 끼어 있어 답할 수 없었다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8" y="1172718"/>
            <a:ext cx="5254600" cy="186918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예비조사 — 30~50명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3632" y="1561948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소요 시간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실제 응답 시간 측정. 목표는 10분 이내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8" y="179611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3632" y="1796110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신뢰도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하위 척도별 α 사전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8" y="203027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3632" y="2030273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천장·바닥 효과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특정 문항에 응답이 한쪽으로 몰리지 않는가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8" y="2264435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3632" y="2264435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무응답률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특정 문항에서 유독 빠지는가 → 민감하거나 이해가 어려운 문항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270715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3632" y="2707157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이탈 지점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온라인이라면 어느 화면에서 중단되는가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168" y="3220669"/>
            <a:ext cx="5254600" cy="10130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7328" y="3321253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예비조사 표본은 본조사에 포함하지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8" y="3507467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예비조사 후 문항을 수정했다면 두 자료는 다른 도구로 잰 것입니다. 수정 없이 그대로 갔다면 포함 가능하지만, 그 사실을 논문에 밝혀야 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0168" y="4412494"/>
            <a:ext cx="5254600" cy="1013060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8" y="4513078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시간 대비 효과가 가장 큰 투자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7328" y="4699292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인지면접 5명 × 40분 = 약 3시간. 이 3시간이 본조사 300명분의 자료를 살립니다. 자료를 다 모은 뒤 "이 문항을 다들 다르게 이해했구나"를 깨닫는 것보다 훨씬 쌉니다.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31720" y="6382512"/>
            <a:ext cx="4337928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mond 47"/>
          <p:cNvSpPr/>
          <p:nvPr/>
        </p:nvSpPr>
        <p:spPr>
          <a:xfrm>
            <a:off x="6635816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사례연구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DRM6 — 기억의 왜곡을 설계로 막은 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본 강의가 예시로 쓰는 </a:t>
            </a:r>
            <a:r>
              <a:rPr sz="12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DRM6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는 고등학생의 하루 경험을 시간대별로 재구성해 정서를 측정하는 실제 운영 중인 조사 시스템입니다. 측정 이론이 설문 화면 하나하나로 번역되는 과정을 보여주는 좋은 표본입니다.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5254600" cy="139400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7398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문제 — 회상 편향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55317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"요즘 학교생활이 얼마나 즐겁습니까?"라고 물으면, 응답자는 실제 경험의 평균이 아니라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가장 강렬했던 순간과 가장 최근의 순간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답합니다(정점-종점 규칙). 응답 시점의 기분도 그대로 섞여 들어옵니다.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789809"/>
            <a:ext cx="4980280" cy="23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그래서 총괄적 만족도 문항은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기억된 경험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잴 뿐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실제 경험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재지 못합니다.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244037"/>
            <a:ext cx="5254600" cy="104035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44621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대안 ① 경험표집법 (ESM)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612540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하루 중 무작위 시점에 알림을 보내 "지금 무엇을 하고 있고 어떤 기분인가"를 묻습니다. 왜곡은 가장 적지만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참여 부담이 매우 크고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학교·부대 일과 중 알림 응답이 현실적으로 불가능합니다.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447616"/>
            <a:ext cx="5254600" cy="1584427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548200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대안 ② 일상재구성법 (DRM)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816119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하루가 끝난 뒤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어제 하루를 시간 순서대로 장면 단위로 복원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시킨 다음, 각 장면에 대해 정서를 평정하게 합니다. 순서대로 되짚는 인출 구조가 회상 왜곡을 크게 줄이면서, 1회 설문의 부담으로 실행됩니다.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550611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핵심 통찰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편향을 통계로 사후 보정한 것이 아니라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설문의 진행 순서 자체를 측정 도구로 만든 것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168" y="1686814"/>
            <a:ext cx="5254600" cy="1323308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8" y="1787398"/>
            <a:ext cx="49802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DRM6의 시간 분할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8" y="1957419"/>
            <a:ext cx="4980280" cy="9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🌅 오전·점심 (08–13시) → ☀️ 오후 (13–18시) → 🌙 저녁 (18–23시)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시간대별로 각 1~5개의 활동을 기록하게 하고, 반드시 오전 → 오후 → 저녁 순서로만 진행할 수 있게 했습니다. 아직 방문하지 않은 시간대 탭은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비활성화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8" y="3173343"/>
            <a:ext cx="5254600" cy="942461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8" y="3273927"/>
            <a:ext cx="49802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왜 순서를 강제했는가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8" y="3443948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건너뛰기를 허용하면 응답자는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기억에 남는 시간대부터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채웁니다. 그 순간 DRM은 무너지고 다시 정점-종점 회상이 됩니다. 순차 진행은 사용성 제약이 아니라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측정 타당도를 지키는 장치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0168" y="4279024"/>
            <a:ext cx="5254600" cy="94246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8" y="4379608"/>
            <a:ext cx="49802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일반화할 교훈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4549629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좋은 설문 설계에서는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응답 순서·화면 전환·건너뛰기 허용 여부가 모두 측정의 일부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문항 문구만 다듬고 흐름을 방치하면 도구의 절반만 만든 것입니다.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31720" y="6382512"/>
            <a:ext cx="4469381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/>
          <p:cNvSpPr/>
          <p:nvPr/>
        </p:nvSpPr>
        <p:spPr>
          <a:xfrm>
            <a:off x="6767268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사례연구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설계 결정 일곱 가지와 그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모든 설계 결정에는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그렇게 하지 않았을 때 발생할 오차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대응합니다. 논문의 방법 장은 결국 이 대응표를 문장으로 푼 것입니다.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686814"/>
          <a:ext cx="10692080" cy="3464968"/>
        </p:xfrm>
        <a:graphic>
          <a:graphicData uri="http://schemas.openxmlformats.org/drawingml/2006/table">
            <a:tbl>
              <a:tblPr firstRow="0" bandRow="0"/>
              <a:tblGrid>
                <a:gridCol w="729080"/>
                <a:gridCol w="3451664"/>
                <a:gridCol w="3144191"/>
                <a:gridCol w="3367145"/>
              </a:tblGrid>
              <a:tr h="32537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설계 결정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차단하려는 오차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대안이었다면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시간대 3분할 후 순차 진행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오전·점심 → 오후 → 저녁, 미방문 탭 비활성화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정점-종점 회상, 선택적 인출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"오늘 하루 어땠나요" 단일 문항 → 응답 시점 기분에 오염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활동을 5개 필드로 구조화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일화 · 무슨 시간 · 누구와 · 어디서 · 이유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맥락 소실. 정서만 남고 </a:t>
                      </a:r>
                      <a:r>
                        <a:rPr sz="945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왜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 사라짐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자유서술만 → 코딩 불가, 통계 분석 불가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정서 9문항을 각성수준 기준으로 배치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긍정·부정 각 고/중/저각성 + 의미 3문항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정서를 좋음/나쁨 1차원으로 뭉개는 오류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"기분 점수 1~10" → 편안함과 즐거움을 구분 못함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정서 평정을 활동 기록 뒤로 분리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2단계 구조 (활동 전체 → 정서 전체)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기록하면서 평정하면 일관성 유지 압력이 생김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활동마다 즉시 평정 → 앞선 응답에 맞추려는 편향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휴대폰 번호를 반복측정 ID로 사용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인적사항은 최초 1회만, 이후 자동 스킵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반복 참여 시 이탈, 동일인 매칭 실패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매회 전체 응답 → 2차 참여율 급락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날짜·요일을 KST로 서버가 자동 기록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응답자 기입 오류, 시간대 혼선, 요일 효과 분석 불가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응답자가 날짜 입력 → 오기입 다수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제출 성공 확인 후에만 완료 화면 전환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실패 시 재시도 버튼 제공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저장 실패를 완료로 오인 → </a:t>
                      </a:r>
                      <a:r>
                        <a:rPr sz="945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조용한 자료 손실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즉시 완료 화면 → 유실 규모를 아무도 모름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32688" y="5315001"/>
            <a:ext cx="10692079" cy="752037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415585"/>
            <a:ext cx="10417759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여러분의 조사에 옮길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585606"/>
            <a:ext cx="10417759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표의 왼쪽 두 열을 자기 설문에 맞춰 다시 쓰는 것만으로 논문 3장(연구방법)의 ‘측정도구’ 절이 거의 완성됩니다. 심사위원이 묻는 것은 언제나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"왜 그렇게 하셨습니까"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이고, 답은 이 표의 세 번째 열에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82512"/>
            <a:ext cx="4600833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mond 24"/>
          <p:cNvSpPr/>
          <p:nvPr/>
        </p:nvSpPr>
        <p:spPr>
          <a:xfrm>
            <a:off x="6898720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36 / 63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사례연구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자료 구조가 분석 단위를 결정한다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DRM6는 응답을 </a:t>
            </a:r>
            <a:r>
              <a:rPr sz="12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두 개의 표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나누어 저장합니다. 이 구조가 곧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분석 가능한 질문의 범위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470914"/>
            <a:ext cx="6037200" cy="1237107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571498"/>
            <a:ext cx="57628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Responses — 사람 단위 (wide)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29054"/>
            <a:ext cx="5762880" cy="487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Timestamp · RespondentID · PhoneNumber · MorningCount · AfternoonCount · EveningCount · Gender · SchoolLocation · SchoolType · Grade · CareerDecision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426081"/>
            <a:ext cx="576288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응답자 1명 = 1행. 인구통계와 응답 규모.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63469"/>
            <a:ext cx="6037200" cy="1384300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64053"/>
            <a:ext cx="57628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Activities — 활동 단위 (long)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221609"/>
            <a:ext cx="5762880" cy="634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RespondentID · PhoneNumber · Date · DayOfWeek · TimeBlock · ActivityNum · Activity · TimeCategory · Companion · Location · Reason · </a:t>
            </a:r>
            <a:r>
              <a:rPr sz="95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EmoJoyful · EmoHappy · EmoComfortable · EmoAnnoyed · EmoNegative · EmoLethargic · EmoMeaningful · EmoValuable · EmoSatisfying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965829"/>
            <a:ext cx="576288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활동 1개 = 1행. 한 사람이 하루 9개 활동을 기록하면 9행, 3일 참여하면 27행이 쌓입니다.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403217"/>
            <a:ext cx="6037200" cy="725805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503801"/>
            <a:ext cx="57628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흔한 실수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665726"/>
            <a:ext cx="5762880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Activities 표를 그대로 개인 단위 회귀에 넣으면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같은 사람의 9개 행을 서로 독립인 9명으로 취급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하게 됩니다. 표준오차가 과소추정되어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없는 효과가 유의하게 나옵니다.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2768" y="1470914"/>
            <a:ext cx="4472000" cy="2713025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fi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196" y="1571498"/>
            <a:ext cx="3349142" cy="251185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152768" y="4339387"/>
            <a:ext cx="4472000" cy="1683487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9928" y="4439971"/>
            <a:ext cx="41976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이 구조가 열어주는 질문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9928" y="4601896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6232" y="4601896"/>
            <a:ext cx="40513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수준 1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같은 학생 안에서도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혼자 있을 때보다 친구와 있을 때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정서가 높아지는가 — 개인차가 완전히 통제된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9928" y="4990211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6232" y="4990211"/>
            <a:ext cx="40513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수준 2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요일에 따라 하루 정서 평균이 다른가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9928" y="5197170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6232" y="5197170"/>
            <a:ext cx="40513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수준 3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진로를 결정한 학생과 아닌 학생의 차이가 활동 유형에 따라 달라지는가 — 수준 간 상호작용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9928" y="5740933"/>
            <a:ext cx="419768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단일 시점 설문으로는 첫 번째 질문을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원리적으로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물을 수 없습니다.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31720" y="6382512"/>
            <a:ext cx="4732285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iamond 42"/>
          <p:cNvSpPr/>
          <p:nvPr/>
        </p:nvSpPr>
        <p:spPr>
          <a:xfrm>
            <a:off x="7030173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37 / 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전이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같은 설계를 함정 승조원에게 옮긴다면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1919935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4980280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"함정 승조원의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일과 중 정서 경험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은 활동 유형(당직·정비·훈련·개인시간)과 동반 상황(혼자·동료·상급자)에 따라 어떻게 달라지며, 그 패턴은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항해 일수가 누적될수록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어떻게 변화하는가?"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74950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단일 시점 만족도 조사로는 접근 불가능하고, 일지형 반복측정으로만 답할 수 있는 질문입니다.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32688" y="3271418"/>
          <a:ext cx="5254600" cy="2438452"/>
        </p:xfrm>
        <a:graphic>
          <a:graphicData uri="http://schemas.openxmlformats.org/drawingml/2006/table">
            <a:tbl>
              <a:tblPr firstRow="0" bandRow="0"/>
              <a:tblGrid>
                <a:gridCol w="1512625"/>
                <a:gridCol w="3741975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DRM6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해군 적용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오전/오후/저녁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당직 주기 기준 3구간(주간·석간·야간)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무슨 시간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활동 유형 — 당직·정비·훈련·식사·개인시간·수면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누구와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혼자 · 동료 · 직속상관 · 부서 전체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어디서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함교 · 기관실 · 침실 · 식당 · 갑판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정서 9문항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동일 유지 (검증된 구조 재사용)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휴대폰 ID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군번 해시 또는 자가생성 코드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370168" y="1172718"/>
            <a:ext cx="5254600" cy="194971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8" y="1273302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옮길 때 반드시 바뀌어야 하는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8" y="1459516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3632" y="1459516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익명성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함정 단위 인원이 적어 부서·직별만으로도 개인이 특정됩니다. 최소 집계 단위를 사전에 정하고 공지해야 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8" y="1902238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3632" y="1902238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접속 환경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해상에서 통신이 제한되므로 오프라인 저장 후 입항 시 동기화 또는 지면 병행이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2344960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3632" y="2344960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보안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위치·일정·활동 기록은 그 자체로 민감정보일 수 있습니다. 자유서술을 열어둘지 사전 검토가 필요합니다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8" y="2787682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632" y="2787682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동의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지휘계선을 통한 안내와 자발적 참여를 분리하는 절차 설계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8" y="3301194"/>
            <a:ext cx="5254600" cy="1221619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8" y="3401778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얻게 되는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8" y="3587991"/>
            <a:ext cx="4980280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개인차(성격·계급·연차)가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구조적으로 통제된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비교가 가능해집니다. "야간 당직이 정서를 떨어뜨린다"를 사람 간 비교가 아니라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같은 사람 안에서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보일 수 있고, 이는 횡단 설문이 결코 도달하지 못하는 수준의 증거입니다.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31720" y="6382512"/>
            <a:ext cx="4863738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7161625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38 / 63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05 ·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실습 2 — 문항 교정 </a:t>
            </a:r>
            <a:r>
              <a:rPr sz="2700" b="1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12분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아래 다섯 문항에는 각각 하나 이상의 결함이 있습니다.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진단명을 붙이고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교정본을 쓰십시오. 옆 사람과 교차 검토합니다.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5254600" cy="62842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7398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38736"/>
            <a:ext cx="4980280" cy="221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우리 부대의 복지시설과 교육 프로그램에 만족하십니까?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466020"/>
            <a:ext cx="5254600" cy="62842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566604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817942"/>
            <a:ext cx="4980280" cy="221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과도한 행정업무가 본연의 임무 수행을 방해한다고 보지 않으십니까?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245226"/>
            <a:ext cx="5254600" cy="62842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45810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597148"/>
            <a:ext cx="4980280" cy="221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귀하는 최근 스트레스를 자주 느끼십니까? ① 전혀 없음 ② 가끔 ③ 자주 ④ 항상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4024432"/>
            <a:ext cx="5254600" cy="62842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125016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376354"/>
            <a:ext cx="4980280" cy="221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귀하의 조직몰입 수준을 평가해 주십시오. (1–7점)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4803638"/>
            <a:ext cx="5254600" cy="628421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904222"/>
            <a:ext cx="4980280" cy="246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164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Q5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155560"/>
            <a:ext cx="4980280" cy="221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지난 1년간 상관으로부터 부당한 대우를 받은 적이 있습니까? ① 예 ② 아니오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0168" y="1686814"/>
            <a:ext cx="5254600" cy="710066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8" y="1787398"/>
            <a:ext cx="4980280" cy="15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24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진단 참고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8" y="1944465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이중질문 · 유도질문 · 이중부정 · 전문용어 · 모호한 수량 · 기억 부담 · 가정 전제 · 사회적 바람직성 · 부적절한 응답 범주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8" y="2547664"/>
            <a:ext cx="5254600" cy="2645134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8" y="2648248"/>
            <a:ext cx="4980280" cy="15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24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해설 (강사 진행 후 공개)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8" y="2805316"/>
            <a:ext cx="4980280" cy="2332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Q1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이중질문 — 복지시설과 교육을 분리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Q2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유도 + 이중부정 — "행정업무량이 임무 수행에 미치는 영향은?" 양방향 척도로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Q3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모호한 수량 + 범주 불균형 — "최근 2주간 스트레스를 느낀 날은 며칠입니까? ___일"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Q4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전문용어 — 개념명을 묻지 말고 </a:t>
            </a:r>
            <a:r>
              <a:rPr sz="101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행동·감정 진술문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으로. "나는 이 부대의 문제를 내 문제처럼 느낀다"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Q5</a:t>
            </a: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기억 부담 + 사회적 바람직성 + 이분 응답 — 기간을 6개월로 줄이고, ‘부당한 대우’를 구체적 행동 목록(예: 사적 심부름 지시, 공개적 모욕)으로 분해하여 빈도로 측정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168" y="5343583"/>
            <a:ext cx="5254600" cy="710066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7328" y="5444167"/>
            <a:ext cx="4980280" cy="157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24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8" y="5601235"/>
            <a:ext cx="4980280" cy="39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본인 설문 초안이 있다면, 지금 문항 3개만 골라 같은 진단을 적용해 보십시오. 대부분 최소 한 개는 걸립니다.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05 · 측정과 설문개발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31720" y="6382512"/>
            <a:ext cx="4995190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iamond 44"/>
          <p:cNvSpPr/>
          <p:nvPr/>
        </p:nvSpPr>
        <p:spPr>
          <a:xfrm>
            <a:off x="7293077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자료분석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분석은 연구문제가 정합니다. 기법을 먼저 고르고 거기에 맞는 질문을 만드는 순간, 논문은 방향을 잃습니다.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기법 매칭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3578" y="4828032"/>
            <a:ext cx="97840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p값과 효과크기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5138" y="4828032"/>
            <a:ext cx="74091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매개·조절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920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질적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06 · 자료분석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5126643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7424530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40 /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06 ·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연구문제 유형별 분석 기법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172718"/>
          <a:ext cx="10692080" cy="4127454"/>
        </p:xfrm>
        <a:graphic>
          <a:graphicData uri="http://schemas.openxmlformats.org/drawingml/2006/table">
            <a:tbl>
              <a:tblPr firstRow="0" bandRow="0"/>
              <a:tblGrid>
                <a:gridCol w="2734850"/>
                <a:gridCol w="1365462"/>
                <a:gridCol w="1162798"/>
                <a:gridCol w="2682123"/>
                <a:gridCol w="2746847"/>
              </a:tblGrid>
              <a:tr h="32537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연구문제 형태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독립변수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종속변수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기법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보고할 값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 집단이 다른가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범주 2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독립표본 t검정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t, df, p, Cohen's d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세 집단 이상 다른가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범주 3+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일원분산분석 + 사후검정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F, df, p, η², 사후비교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사전-사후가 변했는가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시점 2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대응표본 t검정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t, p, d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 범주가 연관되는가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범주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범주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교차분석 χ²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χ², df, p, Cramer's V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두 변수가 함께 변하는가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Pearson 상관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r, p, n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무엇이 얼마나 예측하는가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연속·더미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다중회귀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β, t, p, R², ΔR², VIF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통제 후에도 효과가 남는가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단계 투입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위계적 회귀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단계별 R², ΔR², ΔF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발생 여부를 예측하는가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혼합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이항 로지스틱회귀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B, Wald, </a:t>
                      </a:r>
                      <a:r>
                        <a:rPr sz="945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OR</a:t>
                      </a: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, 95% CI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왜 영향을 미치는가 (경로)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매개분석 (부트스트랩)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간접효과, 부트스트랩 95% CI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언제 효과가 커지는가 (조건)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연속·범주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조절분석 (상호작용항)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상호작용 β, ΔR², 단순기울기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여러 문항이 몇 개로 묶이는가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요인분석 (EFA/CFA)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요인적재량, KMO, 적합도지수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같은 사람을 반복 측정했다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혼합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연속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다층모형 / 반복측정 ANOVA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ICC, 고정효과, 무선효과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32688" y="5463388"/>
            <a:ext cx="10692079" cy="561613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563972"/>
            <a:ext cx="10417759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사용 순서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733993"/>
            <a:ext cx="10417759" cy="23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표는 연구문제를 정한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직후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보는 표입니다. 자료를 다 모은 뒤에 보면 이미 늦습니다 — 원하는 기법에 필요한 변수를 수집하지 않았을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06 · 자료분석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6382512"/>
            <a:ext cx="5258095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7555982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06 ·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자료를 받은 날부터의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173964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1 · 정제 (가장 오래 걸림)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41221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541221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불성실 응답 제거 — 전 문항 동일값, 응답시간 하위 5%, 주의점검 문항 실패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57248"/>
            <a:ext cx="146304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757248"/>
            <a:ext cx="4833976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결측 확인 — 결측률 5% 미만이면 대개 무시 가능, 그 이상이면 패턴 확인 후 처리 방법 명시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163699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163699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역채점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379726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379726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이상치 확인 — 표준화점수 ±3.29 초과, 다변량은 Mahalanobis 거리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595753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595753"/>
            <a:ext cx="48339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척도 합산·평균 산출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075584"/>
            <a:ext cx="5254600" cy="139400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176168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2 · 기술통계와 정규성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444088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평균·표준편차·왜도·첨도.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왜도 |2| 이하, 첨도 |7| 이하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면 모수 분석을 대체로 수용합니다.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988156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표본이 크면 Kolmogorov-Smirnov 검정은 사소한 이탈에도 유의하게 나옵니다.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검정 결과보다 왜도·첨도와 히스토그램을 보십시오.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4632808"/>
            <a:ext cx="5254600" cy="849935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733392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3 · 신뢰도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001311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모든 척도의 α(또는 ω). 여기서 문제가 발견되면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본 분석으로 넘어가지 마십시오.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8" y="1172718"/>
            <a:ext cx="5254600" cy="139400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8" y="1273302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4 · 상관행렬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8" y="1541221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모든 주요 변수 간 상관표. 본 분석의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예고편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이며, 여기서 안 보이는 관계가 회귀에서 갑자기 나오면 의심해야 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8" y="2085289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독립변수 간 상관이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.80을 넘으면 다중공선성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의심하고 VIF를 확인합니다(VIF &lt; 10, 보수적으로 &lt; 5).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0168" y="2729941"/>
            <a:ext cx="5254600" cy="849935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7328" y="2830525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5 · 가설 검정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8" y="3098444"/>
            <a:ext cx="4980280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가설 번호 순서대로.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H1부터 차례로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검정하고 결과 장도 같은 순서로 씁니다. 이 대응이 깨지면 독자가 길을 잃습니다.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0168" y="3743096"/>
            <a:ext cx="5254600" cy="104035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7328" y="3843680"/>
            <a:ext cx="4980280" cy="2633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6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6 · 추가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8" y="4111600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계급별·직별별 하위집단 분석 등. 반드시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탐색적 분석임을 명시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하십시오. 사후에 발견한 것을 원래 가설이었던 것처럼 쓰는 것(HARKing)은 연구부정에 해당합니다.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0168" y="4946675"/>
            <a:ext cx="5254600" cy="94246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7328" y="5047259"/>
            <a:ext cx="49802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도구 선택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7328" y="5217281"/>
            <a:ext cx="49802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SPSS가 익숙하면 SPSS로 충분합니다. 무료 대안으로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jamovi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·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JASP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있고 SPSS와 화면 구성이 유사하며 α와 ω를 함께 산출합니다. 매개·조절은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PROCESS macro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(무료, Hayes)가 표준입니다. R은 배울 시간이 있을 때만.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06 · 자료분석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31720" y="6382512"/>
            <a:ext cx="5389547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/>
          <p:cNvSpPr/>
          <p:nvPr/>
        </p:nvSpPr>
        <p:spPr>
          <a:xfrm>
            <a:off x="7687435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06 ·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p &lt; .05가 말해주지 않는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291774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p값에 대한 다섯 가지 오해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561948"/>
          <a:ext cx="4980280" cy="2427935"/>
        </p:xfrm>
        <a:graphic>
          <a:graphicData uri="http://schemas.openxmlformats.org/drawingml/2006/table">
            <a:tbl>
              <a:tblPr firstRow="0" bandRow="0"/>
              <a:tblGrid>
                <a:gridCol w="2008582"/>
                <a:gridCol w="2971698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오해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실제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가설이 참일 확률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영가설이 참일 때 이런 자료를 얻을 확률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p가 작을수록 효과가 큼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표본이 크면 사소한 효과도 p가 작아짐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p&gt;.05는 효과 없음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"효과가 없다"가 아니라 "있다고 말할 근거가 부족하다"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p=.049와 .051은 질적으로 다름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.05는 관례적 선일 뿐 자연의 경계가 아님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51526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재현하면 또 유의할 것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p=.05인 결과의 재현 확률은 생각보다 훨씬 낮음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932688" y="4269232"/>
            <a:ext cx="5254600" cy="10130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369816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다중검정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556030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20개 가설을 α=.05로 검정하면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모두 효과가 없어도 평균 1개가 유의하게 나옵니다.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사후비교나 다수의 상관을 볼 때는 Bonferroni(α ÷ 검정 수) 또는 FDR 보정을 적용하고, 적용했다면 반드시 명시하십시오.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8" y="1172718"/>
            <a:ext cx="5254600" cy="3177134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반드시 함께 보고할 것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07328" y="1561948"/>
          <a:ext cx="4980279" cy="2091437"/>
        </p:xfrm>
        <a:graphic>
          <a:graphicData uri="http://schemas.openxmlformats.org/drawingml/2006/table">
            <a:tbl>
              <a:tblPr firstRow="0" bandRow="0"/>
              <a:tblGrid>
                <a:gridCol w="1175667"/>
                <a:gridCol w="1145007"/>
                <a:gridCol w="886535"/>
                <a:gridCol w="886535"/>
                <a:gridCol w="886535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효과크기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작음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큼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Cohen's d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평균 차이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.20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.50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.80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r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상관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.10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.30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.50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η² / ω²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분산분석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.01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.06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.14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f²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회귀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.02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.15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.35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OR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로지스틱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507328" y="3832149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기준값은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관례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이지 법칙이 아닙니다. 해당 분야 선행연구의 통상적 효과크기와 비교해 해석하는 것이 더 좋습니다.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8" y="4528617"/>
            <a:ext cx="5254600" cy="1608944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8" y="4629201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결과 문장의 표준형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4815415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"해상근무일수는 직무소진을 유의하게 예측하였다(β=.34, t=4.82, p&lt;.001). 이는 중간 크기의 효과에 해당하며(f²=.16), 해상근무일수 1 표준편차 증가는 소진 점수 0.34 표준편차 상승과 관련되었다."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8" y="5619858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— 통계량 · 유의성 · 효과크기 ·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실질적 의미의 번역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까지 네 요소가 모두 들어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06 · 자료분석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6382512"/>
            <a:ext cx="5521000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iamond 33"/>
          <p:cNvSpPr/>
          <p:nvPr/>
        </p:nvSpPr>
        <p:spPr>
          <a:xfrm>
            <a:off x="7818887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06 ·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매개는 ‘왜’, 조절은 ‘언제’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둘을 혼동하는 것이 학위논문에서 가장 흔한 개념적 오류입니다. 그림으로 구분하면 결코 헷갈리지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470914"/>
            <a:ext cx="5254600" cy="216164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fi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05" y="1571498"/>
            <a:ext cx="2613965" cy="19604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32688" y="3788004"/>
            <a:ext cx="5254600" cy="2176653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888588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매개 — 경로를 설명한다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050513"/>
            <a:ext cx="4980280" cy="1859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"해상근무가 길수록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수면의 질이 나빠지고, 그 결과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소진이 높아진다."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검정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Baron &amp; Kenny의 4단계는 더 이상 표준이 아닙니다.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부트스트랩 신뢰구간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(PROCESS Model 4, 5,000회 재표집)을 쓰고,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간접효과 a×b의 95% CI가 0을 포함하지 않으면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매개가 유의합니다.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주의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횡단 자료의 매개분석은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시간적 선행을 가정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할 뿐 증명하지 않습니다. 한계에 반드시 명시하십시오.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8" y="1470914"/>
            <a:ext cx="5254600" cy="216164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fig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485" y="1571498"/>
            <a:ext cx="2613965" cy="196047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70168" y="3788004"/>
            <a:ext cx="5254600" cy="2176653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8" y="3888588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조절 — 조건을 특정한다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8" y="4050513"/>
            <a:ext cx="4980280" cy="1859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"해상근무가 소진을 높이는 정도는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응집력이 낮은 부대에서 더 크다.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검정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두 변수를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평균중심화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한 뒤 상호작용항(X×Mo)을 회귀에 투입. 상호작용항이 유의하면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단순기울기 분석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조절변수 ±1SD 지점의 기울기를 각각 보고하고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반드시 그래프로 제시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합니다.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주의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상호작용 효과는 검정력이 낮아 표본이 부족하면 잡히지 않습니다. 조절 가설이 있다면 표본 크기를 넉넉히 잡으십시오.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06 · 자료분석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31720" y="6382512"/>
            <a:ext cx="5652452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7950339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06 · 질적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질적 자료도 절차가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"면담하고 느낀 점을 정리했다"는 분석이 아닙니다. 질적 연구의 엄밀성은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추적 가능한 절차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에서 나옵니다.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470914"/>
          <a:ext cx="6037200" cy="2380033"/>
        </p:xfrm>
        <a:graphic>
          <a:graphicData uri="http://schemas.openxmlformats.org/drawingml/2006/table">
            <a:tbl>
              <a:tblPr firstRow="0" bandRow="0"/>
              <a:tblGrid>
                <a:gridCol w="1113168"/>
                <a:gridCol w="2796116"/>
                <a:gridCol w="2127916"/>
              </a:tblGrid>
              <a:tr h="32537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작업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470459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 · 전사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녹음을 축어록으로. 발화 그대로, 침묵·웃음도 표기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전사본 (1시간 면담 ≈ 4~6시간 소요)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 · 친숙화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전체를 여러 번 읽으며 메모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초기 인상 메모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 · 개방코딩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의미 단위마다 이름 붙이기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코드 목록 (보통 50~150개)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 · 범주화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유사 코드를 묶어 상위 범주 구성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범주 체계 (10~20개)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5 · 주제 도출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범주를 관통하는 주제 규명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주제 3~6개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6 · 검증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원자료로 돌아가 주제 확인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수정된 주제 + 대표 인용문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32688" y="4014165"/>
            <a:ext cx="6037200" cy="94246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114749"/>
            <a:ext cx="57628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포화 (saturation)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284770"/>
            <a:ext cx="57628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새로운 면담에서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새 코드가 더 이상 나오지 않는 지점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까지 자료를 수집합니다. 통상 개인 심층면담은 12~20명, 초점집단은 4~6개 집단에서 포화에 이릅니다.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"포화에 도달했다"고 쓰려면 어느 시점부터 새 코드가 나오지 않았는지를 근거로 제시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해야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2768" y="1470914"/>
            <a:ext cx="4472000" cy="1704156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9928" y="1571498"/>
            <a:ext cx="41976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신뢰성 확보 장치 (Lincoln &amp; Guba)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9928" y="1741519"/>
            <a:ext cx="4197680" cy="1378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신빙성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삼각검증, 참여자 확인(member checking), 동료 검토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전이가능성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맥락의 두터운 기술(thick description)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의존가능성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감사 추적(audit trail) — 결정의 기록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확증가능성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연구자 성찰일지, 원자료 보존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52768" y="3338290"/>
            <a:ext cx="4472000" cy="1590542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9928" y="3438874"/>
            <a:ext cx="41976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군 연구에서 특히 주의할 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9928" y="3608896"/>
            <a:ext cx="146304" cy="6078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6232" y="3608896"/>
            <a:ext cx="4051376" cy="6078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연구자의 계급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면담에 영향을 줍니다. 소령이 하사를 면담하면 나오는 이야기와 안 나오는 이야기가 정해집니다. 이 위치성(positionality)을 논문에 명시하십시오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928" y="4205770"/>
            <a:ext cx="146304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6232" y="4205770"/>
            <a:ext cx="4051376" cy="417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인용문의 익명화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직책·함정명·사건이 함께 나오면 개인이 특정됩니다. 인용문은 반드시 탈식별화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928" y="4612221"/>
            <a:ext cx="146304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5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6232" y="4612221"/>
            <a:ext cx="4051376" cy="2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녹음 동의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와 보관·파기 절차를 사전에 문서화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2768" y="5092052"/>
            <a:ext cx="4472000" cy="94246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9928" y="5192636"/>
            <a:ext cx="41976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코딩 신뢰도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9928" y="5362658"/>
            <a:ext cx="419768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제2 코더가 전체의 20~30%를 독립 코딩하고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Cohen's κ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산출합니다. κ ≥ .80이면 양호하며, 불일치 항목은 합의 과정을 거쳐 조정하고 그 과정을 기술합니다.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06 · 자료분석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31720" y="6382512"/>
            <a:ext cx="5783904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iamond 38"/>
          <p:cNvSpPr/>
          <p:nvPr/>
        </p:nvSpPr>
        <p:spPr>
          <a:xfrm>
            <a:off x="8081792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논문작성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Writing 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논문은 보고서가 아니라 하나의 논증입니다. 각 장은 그 논증을 이루는 부품이며, 부품이 어긋나면 아무리 문장이 좋아도 설득되지 않습니다.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9136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모래시계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9478" y="4828032"/>
            <a:ext cx="97840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장별 서술 전략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03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표와 그림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1928" y="4828032"/>
            <a:ext cx="80568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인용과 윤리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5915357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8213244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논문은 모래시계 모양이다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48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넓게 시작해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내 연구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에서 가장 좁아지고, 다시 넓게 끝납니다. 이 형태에서 벗어나면 독자는 어디에 서 있는지 알 수 없게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686814"/>
            <a:ext cx="4203680" cy="329553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fi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861073"/>
            <a:ext cx="3929360" cy="29470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" y="5009785"/>
            <a:ext cx="420368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가장 좁은 지점 = 내 자료가 말하는 것. 그 위아래는 맥락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19248" y="1686814"/>
          <a:ext cx="6305520" cy="1909574"/>
        </p:xfrm>
        <a:graphic>
          <a:graphicData uri="http://schemas.openxmlformats.org/drawingml/2006/table">
            <a:tbl>
              <a:tblPr firstRow="0" bandRow="0"/>
              <a:tblGrid>
                <a:gridCol w="1450903"/>
                <a:gridCol w="3733072"/>
                <a:gridCol w="1121545"/>
              </a:tblGrid>
              <a:tr h="325374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장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 장이 답하는 질문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7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분량 비중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 서론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왜 이 연구가 필요한가? 무엇을 밝히려 하는가?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10%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 이론적 배경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지금까지 무엇이 밝혀졌고 무엇이 남았는가?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25%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 연구방법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어떻게 알아냈는가? 남이 따라 할 수 있는가?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20%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 연구결과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자료가 무엇을 보여주는가? </a:t>
                      </a:r>
                      <a:r>
                        <a:rPr sz="945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(해석 없이)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25%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1684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5 논의·결론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그것이 무슨 의미인가? 그래서 무엇을 해야 하는가?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4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20%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19248" y="3759606"/>
            <a:ext cx="6305520" cy="94246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6408" y="3860190"/>
            <a:ext cx="603120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결과와 논의를 섞지 마십시오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6408" y="4030212"/>
            <a:ext cx="6031200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4장에서는 "무엇이 나왔는가"만, 5장에서 "왜 그런가"를 씁니다. 이 분리가 지켜지지 않으면 </a:t>
            </a:r>
            <a:r>
              <a:rPr sz="110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독자는 어디까지가 자료이고 어디부터가 연구자의 추측인지 알 수 없게 됩니다.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심사에서 가장 자주 지적되는 구조적 문제입니다.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9248" y="4865287"/>
            <a:ext cx="6305520" cy="1132884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6408" y="4965871"/>
            <a:ext cx="6031200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쓰는 순서는 읽는 순서와 다릅니다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6408" y="5135893"/>
            <a:ext cx="6031200" cy="807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권장 집필 순서: </a:t>
            </a:r>
            <a:r>
              <a:rPr sz="110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3장 방법 → 4장 결과 → 2장 이론 → 5장 논의 → 1장 서론 → 초록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서론을 맨 먼저 쓰면 반드시 다시 씁니다. 결과가 나온 뒤에야 "무엇을 밝힌 연구인지" 정확히 쓸 수 있기 때문입니다.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31720" y="6382512"/>
            <a:ext cx="6046809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8344696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47 /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서론 — 네 문단으로 좁혀 들어간다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6037200" cy="1089914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8144" y="1172718"/>
            <a:ext cx="491744" cy="210312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문단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273302"/>
            <a:ext cx="525996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현상 · 중요성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530858"/>
            <a:ext cx="576288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누구나 인정하는 사실에서 출발합니다. 통계·정책·현안으로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이 문제가 실재함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867662"/>
            <a:ext cx="5762880" cy="340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"해군은 함정 승조원의 장기 해상근무에 따른 인력 유지 문제에 직면해 있다. 2024년 해군 부사관 중도 전역률은 ○%로…"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418080"/>
            <a:ext cx="6037200" cy="1089914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8144" y="2418080"/>
            <a:ext cx="491744" cy="210312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문단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18664"/>
            <a:ext cx="525996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선행연구가 밝힌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776220"/>
            <a:ext cx="576288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기존 연구의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성과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인정합니다. 여기서 인색하면 다음 문단의 공백 주장이 설득력을 잃습니다.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113024"/>
            <a:ext cx="5762880" cy="340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"근무 강도가 소진을 높인다는 점은 여러 연구에서 일관되게 확인되었다(김, 2021; Park, 2019)."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3663442"/>
            <a:ext cx="6037200" cy="1271270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8144" y="3663442"/>
            <a:ext cx="491744" cy="210312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문단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64026"/>
            <a:ext cx="525996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그러나 — 공백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021582"/>
            <a:ext cx="5762880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 전체가 서 있는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단 하나의 문단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"그럼에도 불구하고", "그러나 ~은 검토되지 않았다"로 전환합니다.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539742"/>
            <a:ext cx="5762880" cy="340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"그러나 이러한 연구들은 이탈이 불가능한 폐쇄 환경이라는 함정 근무의 특수성을 반영하지 못하였다."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090160"/>
            <a:ext cx="6037200" cy="640080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8144" y="5090160"/>
            <a:ext cx="491744" cy="210312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문단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5190744"/>
            <a:ext cx="525996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따라서 — 목적과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448300"/>
            <a:ext cx="5762880" cy="227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 목적을 선언하고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연구문제를 번호 붙여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제시합니다. 필요하면 기대효과까지.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2768" y="1172718"/>
            <a:ext cx="4472000" cy="1734998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9928" y="1273302"/>
            <a:ext cx="41976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서론에서 흔히 나오는 문제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9928" y="1435227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6232" y="1435227"/>
            <a:ext cx="40513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장황한 배경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해군의 역사부터 시작하는 서론. 3페이지를 읽어도 무엇을 연구하는지 모릅니다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9928" y="1823542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6232" y="1823542"/>
            <a:ext cx="40513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공백 문단 부재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선행연구를 소개만 하고 "그래서 무엇이 없는가"를 말하지 않습니다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9928" y="2211857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6232" y="2211857"/>
            <a:ext cx="40513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목적과 문제의 불일치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목적은 "실태 파악"인데 연구문제는 인과관계를 묻습니다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928" y="2600173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6232" y="2600173"/>
            <a:ext cx="40513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2장의 선점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서론에서 이론을 다 설명해버려 2장이 반복이 됩니다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52768" y="3063164"/>
            <a:ext cx="4472000" cy="725805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9928" y="3163748"/>
            <a:ext cx="41976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분량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9928" y="3325673"/>
            <a:ext cx="4197680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석사 논문 서론은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3~5페이지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적절합니다. 그 이상이면 2장으로 옮겨야 할 내용이 섞인 것입니다.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2768" y="3944417"/>
            <a:ext cx="4472000" cy="1451229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9928" y="4045001"/>
            <a:ext cx="41976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연구문제 제시 형식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9928" y="4206926"/>
            <a:ext cx="419768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연구문제 1. 해상근무일수는 직무소진에 영향을 미치는가?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연구문제 2. 그 영향은 부대 응집력에 의해 조절되는가?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번호를 붙인 이 문장들이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4장 결과의 소제목과 정확히 일치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해야 합니다. 이 대응이 논문의 뼈대입니다.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31720" y="6382512"/>
            <a:ext cx="6178262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Diamond 54"/>
          <p:cNvSpPr/>
          <p:nvPr/>
        </p:nvSpPr>
        <p:spPr>
          <a:xfrm>
            <a:off x="8476149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3장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연구방법 — 재현 가능성이 유일한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3장을 판정하는 질문은 하나입니다.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"이것만 읽고 다른 사람이 똑같이 다시 할 수 있는가?"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470914"/>
            <a:ext cx="5254600" cy="189478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571498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3.1 연구대상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60144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860144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모집단 정의와 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094306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094306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표집 방법 —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실제로 한 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328469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328469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배포·회수 시기와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562631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562631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배포 수 · 회수 수 · 회수율 · 제외 사례와 사유 · 최종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2796794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796794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인구통계 특성 표 (계급·직별·연령·근속)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03095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030957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표본 크기의 근거 (검정력 분석)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544468"/>
            <a:ext cx="5254600" cy="251627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64505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3.2 측정도구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933698"/>
            <a:ext cx="4980280" cy="2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척도마다 다음을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빠짐없이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32102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321023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원 개발자와 연도, 국내 번안자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55518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555185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하위요인 구성과 문항 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47893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789348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응답 척도 (몇 점, 양극 라벨)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502351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023510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점수 산출 방식 (합산/평균), 역문항 유무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525767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5257673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점수 해석 방향 ("높을수록 ~")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5491836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491836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선행연구의 α와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본 연구의 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572599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5725998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예시 문항 1개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0168" y="1470914"/>
            <a:ext cx="5254600" cy="111549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7328" y="1571498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3.3 연구절차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7328" y="1860144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IRB 승인 번호 · 동의 취득 방식 · 조사 기간 · 조사 방식(온라인/지면) · 소요 시간 · 익명성 보장 조치 · 자료 보관 및 파기 계획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0168" y="2765171"/>
            <a:ext cx="5254600" cy="111549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07328" y="2865755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3.4 자료분석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7328" y="3154401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사용 프로그램과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버전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(SPSS 29.0, PROCESS macro v4.2 등) · 연구문제별 분석 기법 · 유의수준 · 결측치 처리 방법 · 효과크기 지표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0168" y="4059428"/>
            <a:ext cx="5254600" cy="1013060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07328" y="4160012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3장을 쉽게 쓰는 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7328" y="4346226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자료를 수집하는 동안 실시간으로 쓰십시오.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배포 날짜, 회수 경로, 제외한 응답과 그 사유는 그때 적어두지 않으면 6개월 뒤에 절대 기억나지 않습니다. 연구노트 한 권이 3장 전체를 대신합니다.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0168" y="5251253"/>
            <a:ext cx="5254600" cy="80450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7328" y="5351837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과거 시제로 씁니다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07328" y="5538051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"~할 것이다"가 아니라 "~하였다". 연구계획서를 그대로 붙여넣어 미래 시제가 남아 있는 논문이 의외로 많고, 이는 심사에서 즉시 눈에 띕니다.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331720" y="6382512"/>
            <a:ext cx="6309714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iamond 63"/>
          <p:cNvSpPr/>
          <p:nvPr/>
        </p:nvSpPr>
        <p:spPr>
          <a:xfrm>
            <a:off x="8607601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결과 — 해석하지 말고 보여주라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2055114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73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2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서술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51584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06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551584"/>
            <a:ext cx="48339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표본의 기술통계 (인구통계는 3장에 있다면 생략)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76679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06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776679"/>
            <a:ext cx="48339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주요 변수의 평균·표준편차·왜도·첨도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001774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06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001774"/>
            <a:ext cx="48339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척도 신뢰도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226869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06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226869"/>
            <a:ext cx="48339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주요 변수 간 상관행렬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451964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06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451964"/>
            <a:ext cx="48339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연구문제 1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대한 검정 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2677058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06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2677058"/>
            <a:ext cx="48339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연구문제 2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대한 검정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2902153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06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2902153"/>
            <a:ext cx="48339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(있다면) 추가 탐색 분석 — 탐색적임을 명시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3398825"/>
            <a:ext cx="5254600" cy="1448410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3499409"/>
            <a:ext cx="4980280" cy="273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2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표와 본문의 역할 분담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3777691"/>
            <a:ext cx="4980280" cy="444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표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는 모든 수치를 담고,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본문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은 그중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독자가 주목해야 할 것만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말로 짚습니다.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347667"/>
            <a:ext cx="4980280" cy="444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표에 있는 숫자를 본문에서 전부 다시 읽어주는 것은 지면 낭비이며, 반대로 표에 없는 수치를 본문에만 쓰는 것은 검증을 막습니다.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0168" y="1172718"/>
            <a:ext cx="2618156" cy="2500556"/>
          </a:xfrm>
          <a:prstGeom prst="rect">
            <a:avLst/>
          </a:prstGeom>
          <a:solidFill>
            <a:srgbClr val="DDD6D9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7328" y="1273302"/>
            <a:ext cx="2343836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A01B26"/>
                </a:solidFill>
                <a:latin typeface="Courier New"/>
                <a:ea typeface="맑은 고딕"/>
                <a:cs typeface="맑은 고딕"/>
              </a:rPr>
              <a:t>× 해석이 섞임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8" y="1451420"/>
            <a:ext cx="2343836" cy="1316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해상근무일수는 소진에 유의한 영향을 미쳤다(β=.34, p&lt;.001). 이는 장기간의 해상 고립이 승조원의 심리적 자원을 고갈시키기 때문으로 보이며, 따라서 승조원 교대 주기를 단축할 필요가 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8" y="2841216"/>
            <a:ext cx="2343836" cy="658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→ 두 번째 문장부터는 5장의 내용. 자료가 말한 것이 아니라 연구자의 추론이다.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611" y="1172718"/>
            <a:ext cx="2618156" cy="2500556"/>
          </a:xfrm>
          <a:prstGeom prst="rect">
            <a:avLst/>
          </a:prstGeom>
          <a:solidFill>
            <a:srgbClr val="CDDDDC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3771" y="1273302"/>
            <a:ext cx="2343836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○ 사실만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771" y="1451420"/>
            <a:ext cx="2343836" cy="1536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해상근무일수는 직무소진을 유의하게 정적으로 예측하였다(β=.34, t=4.82, p&lt;.001, f²=.16). 통제변수를 투입한 모형 1에 비해 설명량이 유의하게 증가하였다(ΔR²=.09, ΔF=23.24, p&lt;.001).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771" y="3060657"/>
            <a:ext cx="2343836" cy="438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→ 해석은 전부 5장으로. 4장은 "무엇이 나왔는가"만 말한다.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0168" y="3844267"/>
            <a:ext cx="5254600" cy="977760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7328" y="3944851"/>
            <a:ext cx="49802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가설 지지 여부의 명시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8" y="4122969"/>
            <a:ext cx="4980280" cy="644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각 연구문제 서술 끝에 한 줄로 정리합니다. "따라서 가설 1은 지지되었다." / "가설 2b는 지지되지 않았다." 심사위원이 결과를 빠르게 파악하는 데 결정적입니다.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0168" y="4993020"/>
            <a:ext cx="5254600" cy="9777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7328" y="5093604"/>
            <a:ext cx="49802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지지되지 않은 가설을 감추지 마십시오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7328" y="5271722"/>
            <a:ext cx="4980280" cy="644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예상과 다른 결과는 실패가 아닙니다. 오히려 5장에서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가장 흥미로운 논의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나오는 지점입니다. 유의하지 않은 결과를 빼거나 유의수준을 .10으로 슬쩍 바꾸는 것은 연구부정에 해당합니다.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31720" y="6382512"/>
            <a:ext cx="6441166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iamond 53"/>
          <p:cNvSpPr/>
          <p:nvPr/>
        </p:nvSpPr>
        <p:spPr>
          <a:xfrm>
            <a:off x="8739054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표는 혼자서도 읽혀야 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172718"/>
          <a:ext cx="6037199" cy="3507027"/>
        </p:xfrm>
        <a:graphic>
          <a:graphicData uri="http://schemas.openxmlformats.org/drawingml/2006/table">
            <a:tbl>
              <a:tblPr firstRow="0" bandRow="0"/>
              <a:tblGrid>
                <a:gridCol w="1599075"/>
                <a:gridCol w="901564"/>
                <a:gridCol w="985440"/>
                <a:gridCol w="985440"/>
                <a:gridCol w="782840"/>
                <a:gridCol w="782840"/>
              </a:tblGrid>
              <a:tr h="340868">
                <a:tc gridSpan="6"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표 4. 직무소진에 대한 위계적 회귀분석 결과 (N=348)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10743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변수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모형 1 β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모형 2 β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모형 3 β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VIF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계급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−.08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−.06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−.06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1.34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근속연수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.11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.07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.07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1.41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해상근무일수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.34***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.31***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1.12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부대 응집력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−.22***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1.19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해상근무 × 응집력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−.15**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1.08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R²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.02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.13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.20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ΔR²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.11***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.07***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F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2.84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17.12***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16.98***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32688" y="4707179"/>
            <a:ext cx="603720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주. β는 표준화 회귀계수. ** p &lt; .01, *** p &lt; .001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2768" y="1172718"/>
            <a:ext cx="4472000" cy="1929346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89928" y="1273302"/>
            <a:ext cx="41976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표의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9928" y="1451420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36232" y="1451420"/>
            <a:ext cx="40513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제목은 표 위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, 그림 제목은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그림 아래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9928" y="1676514"/>
            <a:ext cx="146304" cy="435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6232" y="1676514"/>
            <a:ext cx="4051376" cy="435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제목만 읽고도 무엇의 표인지 알 수 있어야 하며,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N을 제목에 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9928" y="2101101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6232" y="2101101"/>
            <a:ext cx="40513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세로줄 없음. 가로줄은 최소한으로 (APA)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9928" y="2326196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6232" y="2326196"/>
            <a:ext cx="40513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소수점 자리수 통일. 상관·회귀계수는 소수 둘째 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928" y="2551290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6232" y="2551290"/>
            <a:ext cx="40513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유의도 표시는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표 하단 주석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한 번만 정의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9928" y="2776385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6232" y="2776385"/>
            <a:ext cx="40513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본문에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"표 4에 제시된 바와 같이"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반드시 언급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2768" y="3273057"/>
            <a:ext cx="4472000" cy="1678648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9928" y="3373641"/>
            <a:ext cx="41976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그림을 쓸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9928" y="3551758"/>
            <a:ext cx="146304" cy="435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6232" y="3551758"/>
            <a:ext cx="4051376" cy="435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조절효과는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반드시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단순기울기 그래프로 — 상호작용은 말로 설명하면 아무도 이해하지 못합니다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9928" y="3976345"/>
            <a:ext cx="146304" cy="435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6232" y="3976345"/>
            <a:ext cx="4051376" cy="435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흑백 인쇄를 가정 — 색 대신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선 형태(실선/점선)와 표식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9928" y="4400931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6232" y="4400931"/>
            <a:ext cx="40513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축 이름과 단위를 반드시 표기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9928" y="4626026"/>
            <a:ext cx="146304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00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6232" y="4626026"/>
            <a:ext cx="4051376" cy="236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3D 막대·불필요한 격자·그림자는 제거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52768" y="5122697"/>
            <a:ext cx="4472000" cy="977760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9928" y="5223281"/>
            <a:ext cx="41976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스크린샷 금지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9928" y="5401399"/>
            <a:ext cx="4197680" cy="644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SPSS 출력창을 그대로 캡처해 붙이는 것은 즉시 지적됩니다. 필요한 수치만 골라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직접 만든 표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옮기십시오. 그 과정 자체가 결과를 이해했다는 증거입니다.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31720" y="6382512"/>
            <a:ext cx="6572619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>
            <a:off x="8870506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5장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논의 — 논문의 가치가 결정되는 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4장까지는 성실하면 됩니다. 5장은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연구자의 사고 수준이 그대로 드러나는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장이며, 심사위원이 가장 주의 깊게 읽습니다.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32688" y="1470914"/>
          <a:ext cx="10692079" cy="3137105"/>
        </p:xfrm>
        <a:graphic>
          <a:graphicData uri="http://schemas.openxmlformats.org/drawingml/2006/table">
            <a:tbl>
              <a:tblPr firstRow="0" bandRow="0"/>
              <a:tblGrid>
                <a:gridCol w="2017141"/>
                <a:gridCol w="3689879"/>
                <a:gridCol w="4985059"/>
              </a:tblGrid>
              <a:tr h="340868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순서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45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쓰는 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31927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 · 요약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주요 결과를 </a:t>
                      </a:r>
                      <a:r>
                        <a:rPr sz="990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해석 없이</a:t>
                      </a: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압축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"본 연구는 ~를 검증하였다. 그 결과 첫째, ~. 둘째, ~."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928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 · 대조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선행연구와 </a:t>
                      </a: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일치하는 부분과 다른 부분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"이는 김(2021)의 결과와 일치한다. 반면 응집력의 완충효과가 나타난 이(2023)와는 달리 본 연구에서는… 이러한 차이는 함정 환경의 폐쇄성에 기인한 것으로 해석된다."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928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 · 이론적 함의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 결과가 </a:t>
                      </a: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이론에 무엇을 더하는가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"자원보존이론이 예측하는 완충효과가 이탈 불가능한 환경에서는 성립하지 않을 수 있음을 시사한다."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928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 · 실천적 함의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누가 무엇을 </a:t>
                      </a: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구체적으로</a:t>
                      </a: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바꿔야 하는가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"해상근무 120일을 초과하는 시점부터 소진이 급증하므로, 교대 주기 설계 시 이를 기준점으로 검토할 필요가 있다." — </a:t>
                      </a:r>
                      <a:r>
                        <a:rPr sz="990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주체·시점·수치가 있어야 함의입니다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928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5 · 한계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설계·표본·측정의 한계를 </a:t>
                      </a: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이름 붙여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"횡단 설계로 인과 방향을 확정할 수 없다", "3개 전단 편의표집으로 일반화에 제약이 있다", "자기보고 방식으로 동일방법편의 가능성이 있다"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928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6 · 후속연구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한계를 </a:t>
                      </a:r>
                      <a:r>
                        <a:rPr sz="99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다음 연구의 설계</a:t>
                      </a: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로 전환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9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"종단 설계로 시간적 선행을 확보하고, 근무기록 등 객관 지표를 병행할 것을 제안한다"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32688" y="4779010"/>
            <a:ext cx="5254600" cy="1177252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879594"/>
            <a:ext cx="49802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한계를 쓰는 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057712"/>
            <a:ext cx="4980280" cy="843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"표본이 적어 아쉽다", "시간이 부족하였다" 같은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변명형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은 쓰지 마십시오. 한계는 사과가 아니라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결과 해석의 범위를 정확히 긋는 작업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각 한계마다 "따라서 ~로 해석해야 한다"를 붙이면 자동으로 올바른 형식이 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8" y="4779010"/>
            <a:ext cx="5254600" cy="1177252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8" y="4879594"/>
            <a:ext cx="4980280" cy="1781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35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군 논문의 실천적 함의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8" y="5057712"/>
            <a:ext cx="4980280" cy="843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국방 분야 심사에서 가장 자주 나오는 질문은 </a:t>
            </a:r>
            <a:r>
              <a:rPr sz="1155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"그래서 우리가 뭘 바꿔야 합니까?"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함의는 반드시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정책·제도·교육·인사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중 어디에 해당하는지를 특정하고, 가능하면 </a:t>
            </a:r>
            <a:r>
              <a:rPr sz="1155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실행 주체와 수치 기준</a:t>
            </a:r>
            <a:r>
              <a:rPr sz="1155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까지 제시하십시오.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31720" y="6382512"/>
            <a:ext cx="6704071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9001958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52 /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문체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보고서체에서 학술체로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2618156" cy="1234211"/>
          </a:xfrm>
          <a:prstGeom prst="rect">
            <a:avLst/>
          </a:prstGeom>
          <a:solidFill>
            <a:srgbClr val="DDD6D9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A01B26"/>
                </a:solidFill>
                <a:latin typeface="Courier New"/>
                <a:ea typeface="맑은 고딕"/>
                <a:cs typeface="맑은 고딕"/>
              </a:rPr>
              <a:t>× 보고서체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435227"/>
            <a:ext cx="2343836" cy="598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본 연구 결과 함정 승조원의 소진이 심각한 수준인 것으로 판단됨. 이에 대한 조치가 시급히 요구됨.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9132" y="1172718"/>
            <a:ext cx="2618156" cy="1234211"/>
          </a:xfrm>
          <a:prstGeom prst="rect">
            <a:avLst/>
          </a:prstGeom>
          <a:solidFill>
            <a:srgbClr val="CDDDDC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6292" y="1273302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○ 학술체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6292" y="1435227"/>
            <a:ext cx="2343836" cy="797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본 연구에서 함정 승조원의 정서적 고갈 평균은 4.82(SD=1.13)로, 동일 척도를 사용한 육상근무자 표본(3.91)보다 높았다.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562377"/>
            <a:ext cx="2618156" cy="1034720"/>
          </a:xfrm>
          <a:prstGeom prst="rect">
            <a:avLst/>
          </a:prstGeom>
          <a:solidFill>
            <a:srgbClr val="DDD6D9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662961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A01B26"/>
                </a:solidFill>
                <a:latin typeface="Courier New"/>
                <a:ea typeface="맑은 고딕"/>
                <a:cs typeface="맑은 고딕"/>
              </a:rPr>
              <a:t>× 단정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24886"/>
            <a:ext cx="2343836" cy="199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해상근무는 승조원의 소진을 유발한다.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9132" y="2562377"/>
            <a:ext cx="2618156" cy="1034720"/>
          </a:xfrm>
          <a:prstGeom prst="rect">
            <a:avLst/>
          </a:prstGeom>
          <a:solidFill>
            <a:srgbClr val="CDDDDC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6292" y="2662961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○ 근거에 맞는 진술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6292" y="2824886"/>
            <a:ext cx="2343836" cy="598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해상근무일수는 직무소진과 정적으로 관련되었다. 다만 횡단 설계이므로 인과 방향은 확정할 수 없다.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752545"/>
            <a:ext cx="2618156" cy="1034720"/>
          </a:xfrm>
          <a:prstGeom prst="rect">
            <a:avLst/>
          </a:prstGeom>
          <a:solidFill>
            <a:srgbClr val="DDD6D9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853129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A01B26"/>
                </a:solidFill>
                <a:latin typeface="Courier New"/>
                <a:ea typeface="맑은 고딕"/>
                <a:cs typeface="맑은 고딕"/>
              </a:rPr>
              <a:t>× 주관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015054"/>
            <a:ext cx="2343836" cy="398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놀랍게도 응집력의 효과가 나타나지 않았다.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9132" y="3752545"/>
            <a:ext cx="2618156" cy="1034720"/>
          </a:xfrm>
          <a:prstGeom prst="rect">
            <a:avLst/>
          </a:prstGeom>
          <a:solidFill>
            <a:srgbClr val="CDDDDC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6292" y="3853129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○ 객관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6292" y="4015054"/>
            <a:ext cx="2343836" cy="598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응집력의 조절효과는 통계적으로 유의하지 않았다(β=−.04, p=.42). 이는 선행연구의 예측과 상반된 결과이다.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942713"/>
            <a:ext cx="2618156" cy="1034720"/>
          </a:xfrm>
          <a:prstGeom prst="rect">
            <a:avLst/>
          </a:prstGeom>
          <a:solidFill>
            <a:srgbClr val="DDD6D9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5043297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A01B26"/>
                </a:solidFill>
                <a:latin typeface="Courier New"/>
                <a:ea typeface="맑은 고딕"/>
                <a:cs typeface="맑은 고딕"/>
              </a:rPr>
              <a:t>× 명사 나열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205222"/>
            <a:ext cx="2343836" cy="398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근무환경 개선을 통한 사기 진작 효과 극대화 방안 도출이 요구된다.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9132" y="4942713"/>
            <a:ext cx="2618156" cy="1034720"/>
          </a:xfrm>
          <a:prstGeom prst="rect">
            <a:avLst/>
          </a:prstGeom>
          <a:solidFill>
            <a:srgbClr val="CDDDDC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6292" y="5043297"/>
            <a:ext cx="234383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○ 동사 중심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6292" y="5205222"/>
            <a:ext cx="2343836" cy="598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근무환경을 어떻게 개선해야 사기가 높아지는지를 후속 연구에서 검증할 필요가 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0168" y="1172718"/>
            <a:ext cx="5254600" cy="1881835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7328" y="1273302"/>
            <a:ext cx="49802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바꾸면 즉시 좋아지는 여섯 가지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8" y="1530858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3632" y="1530858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"~됨/~함"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개조식 종결 → 완결된 서술문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8" y="1737817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3632" y="1737817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"~라고 사료된다"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→ "~로 해석된다" 또는 근거 제시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8" y="1944776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3632" y="1944776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과도한 피동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"~되어진다" → "~된다"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7328" y="2151736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3632" y="2151736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군 약어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첫 등장 시 반드시 풀어 쓰고 괄호 병기 — 심사위원이 모두 군 출신은 아닙니다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7328" y="2540051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3632" y="2540051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감정 부사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매우·상당히·심각하게 → 수치로 대체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7328" y="2747010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3632" y="2747010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한 문장 한 주장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세 줄 넘는 문장은 나눕니다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0168" y="3210001"/>
            <a:ext cx="5254600" cy="1269873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07328" y="3310585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퇴고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7328" y="3472510"/>
            <a:ext cx="498028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① 초고를 쓰고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최소 3일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묵힌다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②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소리 내어 읽는다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숨이 막히는 곳이 고칠 곳이다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③ 각 문단의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첫 문장만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이어 읽는다. 그것만으로 논지가 흐르면 구조가 잡힌 것이다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④ 표·그림 번호와 본문 인용을 대조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⑤ 참고문헌과 본문 인용을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양방향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으로 대조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70168" y="4635322"/>
            <a:ext cx="5254600" cy="90716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7328" y="4735906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시제 규칙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07328" y="4897831"/>
            <a:ext cx="4980280" cy="589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선행연구 = 과거("보고하였다") · 확립된 사실 = 현재("~로 알려져 있다") · 본 연구의 절차와 결과 = 과거("측정하였다", "나타났다") · 결과의 해석 = 현재("시사한다")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331720" y="6382512"/>
            <a:ext cx="6835523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iamond 63"/>
          <p:cNvSpPr/>
          <p:nvPr/>
        </p:nvSpPr>
        <p:spPr>
          <a:xfrm>
            <a:off x="9133411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윤리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인용과 연구윤리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309727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인용 형식 (APA 7판 기준)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530858"/>
          <a:ext cx="4980280" cy="2120392"/>
        </p:xfrm>
        <a:graphic>
          <a:graphicData uri="http://schemas.openxmlformats.org/drawingml/2006/table">
            <a:tbl>
              <a:tblPr firstRow="0" bandRow="0"/>
              <a:tblGrid>
                <a:gridCol w="1376686"/>
                <a:gridCol w="3603594"/>
              </a:tblGrid>
              <a:tr h="30988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50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상황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50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본문 표기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저자 1인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(김철수, 2021) / 김철수(2021)는…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저자 2인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(김철수, 이영희, 2022)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저자 3인 이상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(김철수 외, 2023) / (Smith et al., 2023)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여러 문헌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(김철수, 2021; Smith, 2019) — 가나다·알파벳순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직접 인용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"원문 그대로"(김철수, 2021, p. 45)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재인용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(Maslach, 1981; 김철수, 2021에서 재인용) — </a:t>
                      </a:r>
                      <a:r>
                        <a:rPr sz="900" b="1">
                          <a:solidFill>
                            <a:srgbClr val="B5177E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최소화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9848" y="3806698"/>
            <a:ext cx="4980280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※ 소속 대학의 논문 작성 지침이 APA와 다를 수 있습니다.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반드시 학과 양식을 먼저 확인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하십시오.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4425442"/>
            <a:ext cx="5254600" cy="90716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526026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재인용을 줄이십시오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687951"/>
            <a:ext cx="4980280" cy="589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재인용이 많다는 것은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원문을 읽지 않았다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는 자백입니다. 핵심 이론의 원전은 반드시 직접 확보해 읽으십시오. 심사에서 "이 개념은 원저자가 어떻게 정의했습니까"를 물으면 재인용만 한 사람은 답하지 못합니다.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8" y="1172718"/>
            <a:ext cx="5254600" cy="1986077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8" y="1273302"/>
            <a:ext cx="49802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표절의 네 가지 형태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8" y="1530858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3632" y="1530858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직접 표절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출처 없이 그대로 옮기기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1737817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3632" y="1737817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모자이크 표절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단어만 바꿔 재배열 —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가장 흔하고 가장 위험합니다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8" y="1944776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632" y="1944776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자기표절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본인의 기존 논문·보고서를 출처 없이 재사용. 군 실무보고서를 논문에 옮길 때 실제로 자주 발생합니다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8" y="2333092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3632" y="2333092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부적절한 저자권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기여 없는 사람을 저자에 넣거나, 기여한 사람을 빼기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8" y="2695499"/>
            <a:ext cx="4980280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국내 대학은 대부분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카피킬러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등 유사도 검사를 의무화하며, 통상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15~20% 이하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요구합니다.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0168" y="3314243"/>
            <a:ext cx="5254600" cy="1734998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7328" y="3414827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생성형 AI 사용에 관하여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8" y="3576752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3632" y="3576752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허용되는 용도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문장 다듬기, 오탈자 점검, 번역 초안, 코드 작성 보조, 아이디어 브레인스토밍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8" y="3965067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3632" y="3965067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금지되는 용도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존재하지 않는 참고문헌 생성, 자료·수치의 조작, 본문의 대필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8" y="4172026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3632" y="4172026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필수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AI가 제시한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모든 인용문헌은 원문을 직접 확인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하십시오. 실재하지 않는 문헌을 그럴듯하게 만들어내는 사례가 실제로 다수 적발되었습니다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8" y="4560341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3632" y="4560341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공개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소속 기관의 AI 사용 지침을 확인하고, 요구된다면 사용 범위를 명시하십시오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0168" y="5204689"/>
            <a:ext cx="5254600" cy="907161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7328" y="5305273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IRB · 보안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8" y="5467198"/>
            <a:ext cx="4980280" cy="589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연구계획서, 동의서, 설문지, 모집문건을 갖추어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자료 수집 전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에 심의를 신청합니다. 군 자료를 다루는 경우 소속 부대의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보안성 검토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별도로 필요할 수 있으며, 두 절차는 병렬로 진행하십시오.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31720" y="6382512"/>
            <a:ext cx="6966976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9264863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초록과 제목 — 가장 많이 읽히는 부분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2256511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초록의 다섯 문장 공식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561948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목적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본 연구는 ~를 검증하는 데 목적이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9611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796110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방법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~를 대상으로 ~명에게 ~를 실시하여 ~로 분석하였다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03027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030273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결과 1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첫째, ~로 나타났다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26443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264435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결과 2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둘째, ~로 나타났다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49859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498598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함의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이러한 결과는 ~를 시사한다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2911526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국문 초록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400~600자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, 영문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150~250단어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일반적입니다. 학과 지침을 확인하십시오.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3607994"/>
            <a:ext cx="5254600" cy="80450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708578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초록에 쓰지 않는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894792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인용 · 약어(불가피하면 풀어 쓰기) · 표와 그림 참조 · "본문에서 자세히 다룬다" 같은 예고 · 본문에 없는 내용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4591260"/>
            <a:ext cx="5254600" cy="80450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691844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초록은 맨 마지막에 씁니다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878057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논문이 완성된 뒤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완성된 논문을 요약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하는 것이 초록입니다. 먼저 쓴 초록은 반드시 본문과 어긋납니다.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8" y="1172718"/>
            <a:ext cx="5254600" cy="334989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8" y="1273302"/>
            <a:ext cx="4980280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제목 짓기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8" y="1561948"/>
            <a:ext cx="4980280" cy="2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좋은 제목에는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대상 · 변수 · 관계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들어 있습니다.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8" y="1949272"/>
            <a:ext cx="2480996" cy="1148780"/>
          </a:xfrm>
          <a:prstGeom prst="rect">
            <a:avLst/>
          </a:prstGeom>
          <a:solidFill>
            <a:srgbClr val="DDD6D9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4488" y="2049856"/>
            <a:ext cx="220667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A01B26"/>
                </a:solidFill>
                <a:latin typeface="Courier New"/>
                <a:ea typeface="맑은 고딕"/>
                <a:cs typeface="맑은 고딕"/>
              </a:rPr>
              <a:t>× 모호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4488" y="2236070"/>
            <a:ext cx="2206676" cy="229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함정 승조원에 관한 연구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488" y="2538637"/>
            <a:ext cx="2206676" cy="229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해군 조직문화 개선 방안 연구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611" y="1949272"/>
            <a:ext cx="2480996" cy="1148780"/>
          </a:xfrm>
          <a:prstGeom prst="rect">
            <a:avLst/>
          </a:prstGeom>
          <a:solidFill>
            <a:srgbClr val="CDDDDC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3771" y="2049856"/>
            <a:ext cx="220667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○ 특정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771" y="2236070"/>
            <a:ext cx="2206676" cy="6882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해상근무일수가 함정 승조원의 직무소진에 미치는 영향: 부대 응집력의 조절효과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7328" y="327681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3632" y="3276817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부제(콜론 뒤)에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매개·조절 변수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넣는 것이 국내 관행입니다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7328" y="351098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3632" y="3510980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"~에 관한 연구"·"~에 대한 고찰"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은 정보가 없으므로 피합니다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7328" y="3745142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3632" y="3745142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제목 길이는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20~25자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내외(부제 포함 시 40자 내외)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7328" y="3979305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3632" y="3979305"/>
            <a:ext cx="4833976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주요어(키워드)는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4~6개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. 제목에 없는 개념을 하나쯤 넣어 검색 범위를 넓힙니다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0168" y="4701376"/>
            <a:ext cx="5254600" cy="1013060"/>
          </a:xfrm>
          <a:prstGeom prst="rect">
            <a:avLst/>
          </a:prstGeom>
          <a:solidFill>
            <a:srgbClr val="E4EBED"/>
          </a:solidFill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07328" y="4801960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2384E"/>
                </a:solidFill>
                <a:latin typeface="Courier New"/>
                <a:ea typeface="맑은 고딕"/>
                <a:cs typeface="맑은 고딕"/>
              </a:rPr>
              <a:t>제목·초록·연구문제·결과 소제목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7328" y="4988174"/>
            <a:ext cx="4980280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 네 가지의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용어가 일치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해야 합니다. 제목은 "소진", 연구문제는 "번아웃", 결과는 "직무탈진"이라고 쓰면 같은 개념도 다른 것처럼 읽힙니다.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용어 하나를 정하고 끝까지 유지하십시오.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331720" y="6382512"/>
            <a:ext cx="7098428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iamond 59"/>
          <p:cNvSpPr/>
          <p:nvPr/>
        </p:nvSpPr>
        <p:spPr>
          <a:xfrm>
            <a:off x="9396315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07 ·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실습 3 — 목차 초안 </a:t>
            </a:r>
            <a:r>
              <a:rPr sz="2700" b="1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12분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실습 1에서 쓴 연구문제 한 문장을 꺼내십시오. 그 문장에서 목차가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기계적으로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도출됩니다.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470914"/>
            <a:ext cx="5254600" cy="4548048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571498"/>
            <a:ext cx="4980280" cy="20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912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골격 — 빈칸을 채우십시오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79311"/>
            <a:ext cx="4980280" cy="4184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Ⅰ. 서론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1. 연구의 필요성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2. 연구목적 및 연구문제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Ⅱ. 이론적 배경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1. </a:t>
            </a:r>
            <a:r>
              <a:rPr sz="72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[독립변수]</a:t>
            </a: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______________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2. </a:t>
            </a:r>
            <a:r>
              <a:rPr sz="72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[종속변수]</a:t>
            </a: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______________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3. </a:t>
            </a:r>
            <a:r>
              <a:rPr sz="72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[조절/매개변수]</a:t>
            </a: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______________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4. 변수 간 관계에 관한 선행연구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Ⅲ. 연구방법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1. 연구모형 및 가설  2. 연구대상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3. 측정도구  4. 연구절차  5. 자료분석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Ⅳ. 연구결과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1. 기술통계 및 상관분석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2. </a:t>
            </a:r>
            <a:r>
              <a:rPr sz="72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[연구문제 1]</a:t>
            </a: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______________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3. </a:t>
            </a:r>
            <a:r>
              <a:rPr sz="722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[연구문제 2]</a:t>
            </a: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______________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Ⅴ. 논의 및 결론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  1. 논의  2. 결론 및 제언  3. 연구의 한계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8" y="1470914"/>
            <a:ext cx="5254600" cy="599892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8" y="1571498"/>
            <a:ext cx="4980280" cy="12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46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1단계 (5분)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8" y="1694561"/>
            <a:ext cx="4980280" cy="3213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Ⅱ장의 1·2·3절에 </a:t>
            </a:r>
            <a:r>
              <a:rPr sz="79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연구문제 문장의 변수 이름을 그대로</a:t>
            </a: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옮겨 적습니다. 변수가 3개면 절이 3개, 4개면 4개입니다. 여기서 막힌다면 변수가 아직 확정되지 않은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8" y="2188947"/>
            <a:ext cx="5254600" cy="875553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8" y="2289531"/>
            <a:ext cx="4980280" cy="12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46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2단계 (4분)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8" y="2412594"/>
            <a:ext cx="4980280" cy="5970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Ⅳ장의 2·3절에 </a:t>
            </a:r>
            <a:r>
              <a:rPr sz="79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연구문제를 서술문으로 바꿔</a:t>
            </a: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적습니다.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연구문제 1: "해상근무일수는 소진에 영향을 미치는가"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→ Ⅳ-2. 해상근무일수가 직무소진에 미치는 영향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0168" y="3182640"/>
            <a:ext cx="5254600" cy="599892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8" y="3283224"/>
            <a:ext cx="4980280" cy="12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46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3단계 (3분)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3406287"/>
            <a:ext cx="4980280" cy="3213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각 절 옆에 </a:t>
            </a:r>
            <a:r>
              <a:rPr sz="798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예상 분량(페이지)</a:t>
            </a: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적습니다. 합이 50~70페이지 범위에 들어오는지 확인하고, 특정 절이 비대하면 쪼개거나 합칩니다.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8" y="3900673"/>
            <a:ext cx="5254600" cy="599892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8" y="4001257"/>
            <a:ext cx="4980280" cy="123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46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이 목차의 의미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8" y="4124320"/>
            <a:ext cx="4980280" cy="3213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Ⅱ장의 절 수 = 변수 수, Ⅳ장의 절 수 = 연구문제 수. 이 대응이 성립하지 않는 목차는 </a:t>
            </a:r>
            <a:r>
              <a:rPr sz="798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논증이 아직 정리되지 않았다는 신호</a:t>
            </a:r>
            <a:r>
              <a:rPr sz="798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 목차가 서면 논문의 8할은 설계가 끝난 것입니다.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07 · 논문작성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31720" y="6382512"/>
            <a:ext cx="7229881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9527768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B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5727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8686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실행과 심사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8686800" cy="233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Execution &amp;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12464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30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논문은 능력으로 쓰는 것이 아니라 일정으로 씁니다. 실패한 논문의 대부분은 어려워서가 아니라 늦어서 실패합니다.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역산 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3578" y="4828032"/>
            <a:ext cx="63296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지도교수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9698" y="4828032"/>
            <a:ext cx="69773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심사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0588" y="4828032"/>
            <a:ext cx="740918" cy="214884"/>
          </a:xfrm>
          <a:prstGeom prst="rect">
            <a:avLst/>
          </a:prstGeom>
          <a:noFill/>
          <a:ln w="9525">
            <a:solidFill>
              <a:srgbClr val="A5A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체크리스트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08 · 실행과 심사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6382512"/>
            <a:ext cx="7361333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9659220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08 ·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제출일에서 거꾸로 세는 12개월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17854"/>
            <a:ext cx="8595360" cy="270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가장 흔한 착각은 ‘집필’에 시간이 많이 걸린다는 것입니다. 실제로 시간을 삼키는 것은 </a:t>
            </a:r>
            <a:r>
              <a:rPr sz="12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IRB 승인과 자료 수집</a:t>
            </a:r>
            <a:r>
              <a:rPr sz="12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1470914"/>
            <a:ext cx="10692079" cy="3417570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fi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460" y="1571498"/>
            <a:ext cx="4288536" cy="32164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32688" y="5051704"/>
            <a:ext cx="3442106" cy="94246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5152288"/>
            <a:ext cx="3167786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IRB를 과소평가하지 마십시오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322310"/>
            <a:ext cx="3167786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최초 신청에서 한 번에 승인되는 경우는 드뭅니다. 보완 요구 → 재제출 → 재심의로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2~3개월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잡아야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7674" y="5051704"/>
            <a:ext cx="3442106" cy="752037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4834" y="5152288"/>
            <a:ext cx="3167786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자료 수집은 늘 늦어집니다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4834" y="5322310"/>
            <a:ext cx="3167786" cy="426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부대 협조 공문, 지휘관 교체, 훈련 일정, 낮은 회수율. 계획의 </a:t>
            </a:r>
            <a:r>
              <a:rPr sz="1102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1.5배</a:t>
            </a: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잡으십시오.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2661" y="5051704"/>
            <a:ext cx="3442106" cy="942461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152288"/>
            <a:ext cx="3167786" cy="170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2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2·5장을 뒤로 미루는 이유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5322310"/>
            <a:ext cx="3167786" cy="61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결과가 나와야 무엇을 이론적으로 다룰지 확정됩니다. 2장을 먼저 완성하면 대부분 다시 씁니다.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08 · 실행과 심사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31720" y="6382512"/>
            <a:ext cx="7492785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iamond 31"/>
          <p:cNvSpPr/>
          <p:nvPr/>
        </p:nvSpPr>
        <p:spPr>
          <a:xfrm>
            <a:off x="9790673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08 ·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지도교수와 일하는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172718"/>
            <a:ext cx="5254600" cy="1260958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49802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면담에 가져갈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30858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530858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진척 요약 1장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지난 면담 이후 한 일, 이번에 결정할 사항, 다음까지 할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37817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737817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질문은 선택지 형태로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"어떻게 할까요?"가 아니라 "A안과 B안 중 어느 쪽이 낫겠습니까? 저는 A를 생각하는데 이유는 ~입니다"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126132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126132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실물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표, 그림, 문항 초안. 말로만 하는 상의는 진척되지 않습니다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589124"/>
            <a:ext cx="5254600" cy="1623670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689708"/>
            <a:ext cx="49802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피해야 할 세 가지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947264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947264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잠수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막혔을 때 연락을 끊는 것. 진척이 없어도 "이 부분에서 막혀 있습니다"를 보고하는 편이 낫습니다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335579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35579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한꺼번에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완성본을 처음 보여주면 구조부터 다시 해야 할 수 있습니다.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장 단위로 자주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보내십시오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723894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723894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피드백 미반영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지난번 지적을 고치지 않고 다음 원고를 가져가는 것이 가장 나쁜 신호입니다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4368241"/>
            <a:ext cx="5254600" cy="1088517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468825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군 복무와 병행하는 요령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630750"/>
            <a:ext cx="4980280" cy="771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하루 3시간을 확보하려 하지 말고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매일 같은 시간 60분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을 고정하십시오. 논문은 몰아쓰기가 가장 안 되는 종류의 글입니다. 당직·출동으로 끊기는 것이 기본값이므로,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끊겨도 복귀 가능한 단위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(문단 하나, 표 하나)로 작업을 쪼개는 것이 핵심입니다.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8" y="1172718"/>
            <a:ext cx="5254600" cy="2871724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8" y="1273302"/>
            <a:ext cx="498028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심사 질문의 유형과 대응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507328" y="1530858"/>
          <a:ext cx="4980280" cy="2413000"/>
        </p:xfrm>
        <a:graphic>
          <a:graphicData uri="http://schemas.openxmlformats.org/drawingml/2006/table">
            <a:tbl>
              <a:tblPr firstRow="0" bandRow="0"/>
              <a:tblGrid>
                <a:gridCol w="684219"/>
                <a:gridCol w="1788010"/>
                <a:gridCol w="2508051"/>
              </a:tblGrid>
              <a:tr h="309880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50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50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50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확인형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"표본은 몇 명입니까?"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즉답. 페이지까지 안내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방법론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"왜 위계적 회귀를 썼습니까?"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대안과 비교해 선택 이유를 설명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한계 지적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"횡단인데 인과를 말할 수 있습니까?"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인정하고 범위를 좁힌다.</a:t>
                      </a: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 "말할 수 없습니다. 관련성으로 수정하겠습니다"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대안 해석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"역방향 가능성은?"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가능성을 인정하고 배제 근거 또는 한계 기술 제시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확장 요구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"계급별로도 봤습니까?"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했으면 제시, 안 했으면 </a:t>
                      </a: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후속 과제로 수용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취향형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"이 용어보다 저 용어가…"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900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즉시 수용. 다투지 않는다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370168" y="4199890"/>
            <a:ext cx="5254600" cy="1734998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7328" y="4300474"/>
            <a:ext cx="49802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심사장에서의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8" y="4462399"/>
            <a:ext cx="146304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3632" y="4462399"/>
            <a:ext cx="4833976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방어하지 말고 이해하십시오.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지적의 8할은 논문을 좋게 만들려는 것입니다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8" y="4669358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3632" y="4669358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모르면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"확인해서 보완하겠습니다"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 정답입니다. 지어내는 순간 신뢰를 잃습니다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7328" y="5057673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3632" y="5057673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모든 지적을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받아 적으십시오.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수정 대조표를 만들어 </a:t>
            </a:r>
            <a:r>
              <a:rPr sz="105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지적사항 – 수정내용 – 페이지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로 제출하면 재심사가 매끄럽습니다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328" y="5445989"/>
            <a:ext cx="146304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819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3632" y="5445989"/>
            <a:ext cx="4833976" cy="399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심사위원 간 의견이 충돌하면 </a:t>
            </a:r>
            <a:r>
              <a:rPr sz="105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지도교수에게 조정을 요청</a:t>
            </a:r>
            <a:r>
              <a:rPr sz="1050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하십시오. 본인이 중재하려 하지 마십시오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08 · 실행과 심사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31720" y="6382512"/>
            <a:ext cx="7624238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/>
          <p:cNvSpPr/>
          <p:nvPr/>
        </p:nvSpPr>
        <p:spPr>
          <a:xfrm>
            <a:off x="9922125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18288" y="877824"/>
            <a:ext cx="914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PART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Part 08 · 경고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논문이 막히는 열 개의 지점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2688" y="1172718"/>
          <a:ext cx="10692079" cy="3826512"/>
        </p:xfrm>
        <a:graphic>
          <a:graphicData uri="http://schemas.openxmlformats.org/drawingml/2006/table">
            <a:tbl>
              <a:tblPr firstRow="0" bandRow="0"/>
              <a:tblGrid>
                <a:gridCol w="873934"/>
                <a:gridCol w="2837698"/>
                <a:gridCol w="2843003"/>
                <a:gridCol w="4137444"/>
              </a:tblGrid>
              <a:tr h="356362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#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증상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실제 원인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92" b="1">
                          <a:solidFill>
                            <a:srgbClr val="EDF1F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처방</a:t>
                      </a:r>
                    </a:p>
                  </a:txBody>
                  <a:tcPr marL="73152" marR="73152" marT="32004" marB="32004" anchor="t">
                    <a:solidFill>
                      <a:srgbClr val="12384E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주제가 계속 바뀐다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문헌을 충분히 읽지 않았다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핵심 논문 10편 정독 후 재결정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연구문제를 한 문장으로 못 쓴다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변수가 확정되지 않았다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문장 틀 빈칸 채우기 (Part 01)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2장이 논문 소개의 나열이다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쟁점이 아니라 연구자로 묶었다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문헌 매트릭스 → 쟁점별 재구성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설문을 다 돌렸는데 분석이 안 된다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분석 계획 없이 문항을 만들었다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되돌릴 수 없음. 설계 단계에서 기법 확정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신뢰도가 .5대로 나온다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역채점 누락 또는 개념 혼재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역채점 확인 → 문항-총점 상관 점검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가설이 하나도 지지되지 않았다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검정력 부족 또는 측정 문제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효과크기·신뢰구간으로 재서술. 결과 자체는 보고 가치가 있다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4장과 5장이 같은 말을 한다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결과와 해석을 분리하지 않았다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4장에서 해석 문장을 전부 5장으로 이동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실천적 함의가 공허하다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"개선이 필요하다" 수준에 머물렀다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주체·시점·수치 기준을 명시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유사도 검사에서 걸린다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모자이크 표절 또는 자기표절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문장 재작성 + 출처 명시. 본인 보고서도 인용 대상</a:t>
                      </a:r>
                    </a:p>
                  </a:txBody>
                  <a:tcPr marL="73152" marR="73152" marT="32004" marB="32004" anchor="t">
                    <a:solidFill>
                      <a:srgbClr val="DAE2E4"/>
                    </a:solidFill>
                  </a:tcPr>
                </a:tc>
              </a:tr>
              <a:tr h="347015"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1">
                          <a:solidFill>
                            <a:srgbClr val="0B1F2A"/>
                          </a:solidFill>
                          <a:latin typeface="Arial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일정이 한 학기 밀린다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IRB·자료수집 소요를 과소 추정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8000"/>
                        </a:lnSpc>
                      </a:pPr>
                      <a:r>
                        <a:rPr sz="1035" b="0">
                          <a:solidFill>
                            <a:srgbClr val="3A5763"/>
                          </a:solidFill>
                          <a:latin typeface="Arial"/>
                          <a:ea typeface="맑은 고딕"/>
                          <a:cs typeface="맑은 고딕"/>
                        </a:rPr>
                        <a:t>역산 일정표 재작성, 표본 규모 현실화</a:t>
                      </a:r>
                    </a:p>
                  </a:txBody>
                  <a:tcPr marL="73152" marR="73152" marT="32004" marB="32004" anchor="t">
                    <a:solidFill>
                      <a:srgbClr val="E4EB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32688" y="5177993"/>
            <a:ext cx="10692079" cy="804501"/>
          </a:xfrm>
          <a:prstGeom prst="rect">
            <a:avLst/>
          </a:prstGeom>
          <a:solidFill>
            <a:srgbClr val="DCDBD4"/>
          </a:solidFill>
          <a:ln w="9525">
            <a:solidFill>
              <a:srgbClr val="9A5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5278577"/>
            <a:ext cx="10417759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9A5A08"/>
                </a:solidFill>
                <a:latin typeface="Courier New"/>
                <a:ea typeface="맑은 고딕"/>
                <a:cs typeface="맑은 고딕"/>
              </a:rPr>
              <a:t>4번은 되돌릴 수 없습니다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464791"/>
            <a:ext cx="10417759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나머지 아홉 개는 시간을 들이면 복구됩니다. 그러나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수집하지 않은 변수는 나중에 만들 수 없습니다.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오늘 강의에서 단 하나만 가져간다면,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설문 문항을 확정하기 전에 분석 계획표를 먼저 쓰는 것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08 · 실행과 심사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6382512"/>
            <a:ext cx="7755690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10053577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Closing ·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제출 전 자기점검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172718"/>
            <a:ext cx="3442106" cy="186918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273302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561948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연구문제가 한 문장으로 진술되어 있는가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96110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796110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변수의 역할(IV·DV·M·Mo·CV)이 모형에 명시되어 있는가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238832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238832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가설마다 번호와 방향이 있는가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47299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472995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연구설계 유형이 명시되어 있는가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70715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707157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인과 주장의 수위가 설계에 부합하는가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20669"/>
            <a:ext cx="3442106" cy="1635023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321253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표본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609899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609899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모집단·표집틀·표집방법이 사실대로 기술되어 있는가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052621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52621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배포·회수·제외·최종 n이 모두 있는가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28678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86783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표본 크기의 근거가 제시되어 있는가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520946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520946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무응답 편향 점검 결과가 있는가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7674" y="1172718"/>
            <a:ext cx="3442106" cy="1869186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4834" y="1273302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측정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4834" y="1561948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1138" y="1561948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모든 척도의 출처·문항수·응답범위가 있는가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4834" y="200467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1138" y="2004670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본 연구의 신뢰도(α 또는 ω)를 보고했는가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4834" y="2238832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1138" y="2238832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역채점을 처리했는가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4834" y="247299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1138" y="2472995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점수 해석 방향을 명시했는가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4834" y="270715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1138" y="2707157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동일방법편의에 대한 언급이 있는가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7674" y="3220669"/>
            <a:ext cx="3442106" cy="1660627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4834" y="3321253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834" y="3609899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1138" y="3609899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기법이 연구문제 유형에 부합하는가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834" y="3844061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1138" y="3844061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효과크기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를 함께 보고했는가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4834" y="4078224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1138" y="4078224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다중공선성(VIF)을 확인했는가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4834" y="431238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138" y="4312387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다중검정 보정 여부를 밝혔는가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4834" y="4546549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138" y="4546549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프로그램과 버전을 명시했는가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2661" y="1172718"/>
            <a:ext cx="3442106" cy="189478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9821" y="1273302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집필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9821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66125" y="1561948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연구문제 번호와 결과 소제목이 일치하는가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9821" y="179611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66125" y="1796110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4장에 해석이 섞여 있지 않은가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9821" y="203027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66125" y="2030273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한계가 이름 붙여 기술되어 있는가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9821" y="226443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66125" y="2264435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실천적 함의에 주체와 기준이 있는가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19821" y="249859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6125" y="2498598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용어가 처음부터 끝까지 통일되어 있는가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9821" y="2732761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66125" y="2732761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모든 표·그림이 본문에서 언급되는가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82661" y="3246272"/>
            <a:ext cx="3442106" cy="2103349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19821" y="3346856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형식·윤리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19821" y="3635502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66125" y="3635502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본문 인용과 참고문헌이 양방향으로 일치하는가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19821" y="4078224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6125" y="4078224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재인용을 최소화했는가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19821" y="4312387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66125" y="4312387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IRB 승인번호가 기재되어 있는가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19821" y="4546549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66125" y="4546549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유사도 검사를 통과했는가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19821" y="4780712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6125" y="4780712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보안성 검토가 필요한 내용은 없는가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19821" y="5014874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6125" y="5014874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학과 논문 양식 지침을 대조했는가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마무리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331720" y="6382512"/>
            <a:ext cx="7887142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Diamond 92"/>
          <p:cNvSpPr/>
          <p:nvPr/>
        </p:nvSpPr>
        <p:spPr>
          <a:xfrm>
            <a:off x="10185030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Closing ·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이어서 볼 것들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172718"/>
            <a:ext cx="3442106" cy="1426464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273302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방법론 · 국내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561948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채서일·김주영, 『사회과학조사방법론』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9611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796110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성태제, 『연구방법론』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03027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030273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이훈영, 『연구조사방법론』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26443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264435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우종필, 『구조방정식모델 개념과 이해』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2777947"/>
            <a:ext cx="3442106" cy="2677820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2878531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방법론 · 국외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167177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167177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Creswell &amp; Creswell,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Research Design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양적·질적·혼합 개관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609899"/>
            <a:ext cx="146304" cy="662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609899"/>
            <a:ext cx="3021482" cy="662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Shadish, Cook &amp; Campbell,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Experimental and Quasi-Experimental Designs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타당도의 표준 문헌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61180"/>
            <a:ext cx="146304" cy="662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61180"/>
            <a:ext cx="3021482" cy="662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Hayes,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Introduction to Mediation, Moderation, and Conditional Process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912462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2462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Dillman et al.,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Internet, Phone, Mail, and Mixed-Mode Surveys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7674" y="1172718"/>
            <a:ext cx="3442106" cy="2052142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4834" y="1273302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글쓰기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4834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1138" y="1561948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APA,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Publication Manual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(7th ed.)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4834" y="1796110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1138" y="1796110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Booth, Colomb &amp; Williams,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The Craft of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4834" y="2238832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1138" y="2238832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Belcher,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Writing Your Journal Article in Twelve 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4834" y="2681554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1138" y="2681554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소속 대학의 </a:t>
            </a: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학위논문 작성 지침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가장 먼저 확인할 문서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57674" y="3403625"/>
            <a:ext cx="3442106" cy="2077745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4834" y="3504209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4834" y="379285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1138" y="3792855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G*Power 3.1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표본 크기·검정력 (무료)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94834" y="4027018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1138" y="4027018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jamovi · JASP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SPSS 대안, α와 ω 동시 산출 (무료)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834" y="4469740"/>
            <a:ext cx="146304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1138" y="4469740"/>
            <a:ext cx="3021482" cy="453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PROCESS macro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매개·조절 (무료, Hayes)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834" y="4912462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1138" y="4912462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Zotero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서지 관리 (무료)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4834" y="5146624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1138" y="5146624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Google Forms · Qualtrics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— 온라인 조사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2661" y="1172718"/>
            <a:ext cx="3442106" cy="1894789"/>
          </a:xfrm>
          <a:prstGeom prst="rect">
            <a:avLst/>
          </a:prstGeom>
          <a:solidFill>
            <a:srgbClr val="E4EBED"/>
          </a:solidFill>
          <a:ln w="9525">
            <a:solidFill>
              <a:srgbClr val="C9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19821" y="1273302"/>
            <a:ext cx="316778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12384E"/>
                </a:solidFill>
                <a:latin typeface="Arial"/>
                <a:ea typeface="맑은 고딕"/>
                <a:cs typeface="맑은 고딕"/>
              </a:rPr>
              <a:t>자료원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9821" y="156194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6125" y="1561948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RISS · KISS · DBpia · 국회전자도서관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9821" y="1796110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6125" y="1796110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한국국방연구원(KIDA) 발간물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9821" y="203027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66125" y="2030273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국방대·해군사관학교 학술지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9821" y="226443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66125" y="2264435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「국방정책연구」·「군사」·「해양전략」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9821" y="249859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66125" y="2498598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DTIC (미 국방기술정보센터)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9821" y="2732761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941" b="0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66125" y="2732761"/>
            <a:ext cx="3021482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Google Scholar · Web of Science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2661" y="3246272"/>
            <a:ext cx="3442106" cy="1569656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9821" y="3346856"/>
            <a:ext cx="3167786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본 강의의 사례 시스템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9821" y="3533070"/>
            <a:ext cx="3167786" cy="879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DRM6 — 일상재구성법 기반 시간대별 경험 조사 시스템. 설문 흐름, 문항 구성, 데이터 스키마, Apps Script 백엔드가 공개되어 있어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설계 결정과 구현을 함께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볼 수 있습니다.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19821" y="4546073"/>
            <a:ext cx="3167786" cy="214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3A5763"/>
                </a:solidFill>
                <a:latin typeface="Courier New"/>
                <a:ea typeface="맑은 고딕"/>
                <a:cs typeface="맑은 고딕"/>
              </a:rPr>
              <a:t>github.com/edu-data/DRM6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마무리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331720" y="6382512"/>
            <a:ext cx="8018595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Diamond 78"/>
          <p:cNvSpPr/>
          <p:nvPr/>
        </p:nvSpPr>
        <p:spPr>
          <a:xfrm>
            <a:off x="10316482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02336"/>
            <a:ext cx="0" cy="5742432"/>
          </a:xfrm>
          <a:prstGeom prst="line">
            <a:avLst/>
          </a:prstGeom>
          <a:ln w="9525">
            <a:solidFill>
              <a:srgbClr val="C9CF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iamond 2"/>
          <p:cNvSpPr/>
          <p:nvPr/>
        </p:nvSpPr>
        <p:spPr>
          <a:xfrm>
            <a:off x="509321" y="363017"/>
            <a:ext cx="78638" cy="78638"/>
          </a:xfrm>
          <a:prstGeom prst="diamond">
            <a:avLst/>
          </a:prstGeom>
          <a:solidFill>
            <a:srgbClr val="EDF1F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02336"/>
            <a:ext cx="7315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Closing · 회수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617220"/>
            <a:ext cx="10050554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오늘 가져가는 세 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1172718"/>
            <a:ext cx="3442106" cy="111549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79519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연구문제 한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1948"/>
            <a:ext cx="3167786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대상 · 독립변수 · 종속변수 · 조절/매개가 모두 특정된 문장. 이 문장이 없으면 아직 연구는 시작되지 않았습니다.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7674" y="1172718"/>
            <a:ext cx="3442106" cy="111549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04506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4834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연구설계 한 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4834" y="1561948"/>
            <a:ext cx="3167786" cy="671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설계 유형 · 표집 · 표본 크기 근거 · 측정도구 · 분석 기법.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설문 문항을 만들기 전에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 완성되어야 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2661" y="1172718"/>
            <a:ext cx="3442106" cy="906932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29492" y="1172718"/>
            <a:ext cx="295275" cy="237744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77" b="0">
                <a:solidFill>
                  <a:srgbClr val="EDF1F3"/>
                </a:solidFill>
                <a:latin typeface="Courier New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9821" y="1273302"/>
            <a:ext cx="2664866" cy="284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80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논문 목차 초안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9821" y="1561948"/>
            <a:ext cx="3167786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Ⅱ장 절 수 = 변수 수, Ⅳ장 절 수 = 연구문제 수. 이 대응이 맞으면 논증의 뼈대가 선 것입니다.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2466975"/>
            <a:ext cx="5254600" cy="1400385"/>
          </a:xfrm>
          <a:prstGeom prst="rect">
            <a:avLst/>
          </a:prstGeom>
          <a:solidFill>
            <a:srgbClr val="CDDDDC"/>
          </a:solidFill>
          <a:ln w="9525">
            <a:solidFill>
              <a:srgbClr val="16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2567559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166B4E"/>
                </a:solidFill>
                <a:latin typeface="Courier New"/>
                <a:ea typeface="맑은 고딕"/>
                <a:cs typeface="맑은 고딕"/>
              </a:rPr>
              <a:t>가장 중요한 한 문장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2753773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좋은 논문은 어려운 통계로 쓰는 것이 아니라,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정확한 질문과 정직한 절차로 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349657"/>
            <a:ext cx="4980280" cy="462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여러분은 이미 현장의 문제의식과 조직에 대한 이해를 가지고 있습니다. 오늘 배운 것은 그것을 </a:t>
            </a:r>
            <a:r>
              <a:rPr sz="1207" b="1">
                <a:solidFill>
                  <a:srgbClr val="B5177E"/>
                </a:solidFill>
                <a:latin typeface="Arial"/>
                <a:ea typeface="맑은 고딕"/>
                <a:cs typeface="맑은 고딕"/>
              </a:rPr>
              <a:t>검증 가능한 형태로 옮기는 절차</a:t>
            </a: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일 뿐입니다.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8" y="2466975"/>
            <a:ext cx="5254600" cy="1711357"/>
          </a:xfrm>
          <a:prstGeom prst="rect">
            <a:avLst/>
          </a:prstGeom>
          <a:solidFill>
            <a:srgbClr val="E0D8E3"/>
          </a:solidFill>
          <a:ln w="9525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8" y="2567559"/>
            <a:ext cx="4980280" cy="186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77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다음 한 주에 할 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8" y="2753773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3632" y="2753773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실습 1의 연구문제 문장을 지도교수에게 보내 확인받기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8" y="2987935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3632" y="2987935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핵심 선행연구 5편을 골라 문헌 매트릭스 표 만들기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8" y="3222098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3632" y="3222098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소속 기관 IRB 신청 절차와 소요 기간 확인하기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8" y="3456261"/>
            <a:ext cx="146304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6000"/>
              </a:lnSpc>
            </a:pPr>
            <a:r>
              <a:rPr sz="1110" b="1">
                <a:solidFill>
                  <a:srgbClr val="B5177E"/>
                </a:solidFill>
                <a:latin typeface="Courier New"/>
                <a:ea typeface="맑은 고딕"/>
                <a:cs typeface="맑은 고딕"/>
              </a:rPr>
              <a:t>4.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3632" y="3456261"/>
            <a:ext cx="4833976" cy="245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3A5763"/>
                </a:solidFill>
                <a:latin typeface="Arial"/>
                <a:ea typeface="맑은 고딕"/>
                <a:cs typeface="맑은 고딕"/>
              </a:rPr>
              <a:t>학과 학위논문 작성 지침 내려받아 목차 양식 대조하기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7328" y="3869188"/>
            <a:ext cx="4980280" cy="2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0B1F2A"/>
                </a:solidFill>
                <a:latin typeface="Arial"/>
                <a:ea typeface="맑은 고딕"/>
                <a:cs typeface="맑은 고딕"/>
              </a:rPr>
              <a:t>이 네 가지를 한 주 안에 하면, 다음 학기가 완전히 달라집니다.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6304788"/>
            <a:ext cx="173736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마무리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9525">
            <a:solidFill>
              <a:srgbClr val="A5AE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1720" y="6382512"/>
            <a:ext cx="8150047" cy="0"/>
          </a:xfrm>
          <a:prstGeom prst="line">
            <a:avLst/>
          </a:prstGeom>
          <a:ln w="20320">
            <a:solidFill>
              <a:srgbClr val="B517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31720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57529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77696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434958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2367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880934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5836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247077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93053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218862" y="6341364"/>
            <a:ext cx="0" cy="82296"/>
          </a:xfrm>
          <a:prstGeom prst="line">
            <a:avLst/>
          </a:prstGeom>
          <a:ln w="7620">
            <a:solidFill>
              <a:srgbClr val="6B87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iamond 45"/>
          <p:cNvSpPr/>
          <p:nvPr/>
        </p:nvSpPr>
        <p:spPr>
          <a:xfrm>
            <a:off x="10447934" y="6348679"/>
            <a:ext cx="67666" cy="67666"/>
          </a:xfrm>
          <a:prstGeom prst="diamond">
            <a:avLst/>
          </a:prstGeom>
          <a:solidFill>
            <a:srgbClr val="EDF1F3"/>
          </a:solidFill>
          <a:ln w="12700">
            <a:solidFill>
              <a:srgbClr val="B51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64647" y="6304788"/>
            <a:ext cx="960120" cy="172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6B8792"/>
                </a:solidFill>
                <a:latin typeface="Courier New"/>
                <a:ea typeface="맑은 고딕"/>
                <a:cs typeface="맑은 고딕"/>
              </a:rPr>
              <a:t>63 / 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